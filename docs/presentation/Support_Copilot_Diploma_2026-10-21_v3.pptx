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6b91a9ad9045a9" /><Relationship Type="http://schemas.openxmlformats.org/officeDocument/2006/relationships/extended-properties" Target="/docProps/app.xml" Id="R6ae249d236e8422c" /><Relationship Type="http://schemas.openxmlformats.org/officeDocument/2006/relationships/officeDocument" Target="/ppt/presentation.xml" Id="Rc0b43d4d0a6d43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6f54b8d88048ac"/>
  </p:sldMasterIdLst>
  <p:notesMasterIdLst>
    <p:notesMasterId xmlns:r="http://schemas.openxmlformats.org/officeDocument/2006/relationships" r:id="R5b961317b655488c"/>
  </p:notesMasterIdLst>
  <p:sldIdLst>
    <p:sldId xmlns:r="http://schemas.openxmlformats.org/officeDocument/2006/relationships" id="256" r:id="Re1b895fbc2144b15"/>
    <p:sldId xmlns:r="http://schemas.openxmlformats.org/officeDocument/2006/relationships" id="257" r:id="Rf04113282b9d44f0"/>
    <p:sldId xmlns:r="http://schemas.openxmlformats.org/officeDocument/2006/relationships" id="258" r:id="R577ed60a8d4b404a"/>
    <p:sldId xmlns:r="http://schemas.openxmlformats.org/officeDocument/2006/relationships" id="259" r:id="R6318ea6490e04ee3"/>
    <p:sldId xmlns:r="http://schemas.openxmlformats.org/officeDocument/2006/relationships" id="260" r:id="R78ff7e9c160e47a0"/>
    <p:sldId xmlns:r="http://schemas.openxmlformats.org/officeDocument/2006/relationships" id="261" r:id="Raeae299f973e453c"/>
    <p:sldId xmlns:r="http://schemas.openxmlformats.org/officeDocument/2006/relationships" id="262" r:id="R4795b17dde5e4e26"/>
    <p:sldId xmlns:r="http://schemas.openxmlformats.org/officeDocument/2006/relationships" id="263" r:id="R468292f3370a4ce4"/>
    <p:sldId xmlns:r="http://schemas.openxmlformats.org/officeDocument/2006/relationships" id="264" r:id="Raeaaff5191a0478e"/>
    <p:sldId xmlns:r="http://schemas.openxmlformats.org/officeDocument/2006/relationships" id="265" r:id="Rc937906bf6de4f7d"/>
    <p:sldId xmlns:r="http://schemas.openxmlformats.org/officeDocument/2006/relationships" id="266" r:id="Rb31bef9f8be14bf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12048decfd4096" /><Relationship Type="http://schemas.openxmlformats.org/officeDocument/2006/relationships/slideMaster" Target="/ppt/slideMasters/slideMaster1.xml" Id="R826f54b8d88048ac" /><Relationship Type="http://schemas.openxmlformats.org/officeDocument/2006/relationships/notesMaster" Target="/ppt/notesMasters/notesMaster1.xml" Id="R5b961317b655488c" /><Relationship Type="http://schemas.openxmlformats.org/officeDocument/2006/relationships/presProps" Target="/ppt/presProps.xml" Id="R1550cd6c2c594622" /><Relationship Type="http://schemas.openxmlformats.org/officeDocument/2006/relationships/tableStyles" Target="/ppt/tableStyles.xml" Id="Rcca7e3937b2a4375" /><Relationship Type="http://schemas.openxmlformats.org/officeDocument/2006/relationships/slide" Target="/ppt/slides/slide1.xml" Id="Re1b895fbc2144b15" /><Relationship Type="http://schemas.openxmlformats.org/officeDocument/2006/relationships/slide" Target="/ppt/slides/slide2.xml" Id="Rf04113282b9d44f0" /><Relationship Type="http://schemas.openxmlformats.org/officeDocument/2006/relationships/slide" Target="/ppt/slides/slide3.xml" Id="R577ed60a8d4b404a" /><Relationship Type="http://schemas.openxmlformats.org/officeDocument/2006/relationships/slide" Target="/ppt/slides/slide4.xml" Id="R6318ea6490e04ee3" /><Relationship Type="http://schemas.openxmlformats.org/officeDocument/2006/relationships/slide" Target="/ppt/slides/slide5.xml" Id="R78ff7e9c160e47a0" /><Relationship Type="http://schemas.openxmlformats.org/officeDocument/2006/relationships/slide" Target="/ppt/slides/slide6.xml" Id="Raeae299f973e453c" /><Relationship Type="http://schemas.openxmlformats.org/officeDocument/2006/relationships/slide" Target="/ppt/slides/slide7.xml" Id="R4795b17dde5e4e26" /><Relationship Type="http://schemas.openxmlformats.org/officeDocument/2006/relationships/slide" Target="/ppt/slides/slide8.xml" Id="R468292f3370a4ce4" /><Relationship Type="http://schemas.openxmlformats.org/officeDocument/2006/relationships/slide" Target="/ppt/slides/slide9.xml" Id="Raeaaff5191a0478e" /><Relationship Type="http://schemas.openxmlformats.org/officeDocument/2006/relationships/slide" Target="/ppt/slides/slide10.xml" Id="Rc937906bf6de4f7d" /><Relationship Type="http://schemas.openxmlformats.org/officeDocument/2006/relationships/slide" Target="/ppt/slides/slide11.xml" Id="Rb31bef9f8be14b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3d9592db4742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291faba18b43e5" /><Relationship Type="http://schemas.openxmlformats.org/officeDocument/2006/relationships/notesMaster" Target="/ppt/notesMasters/notesMaster1.xml" Id="Rbdddd92005424d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89c2baeca74708" /><Relationship Type="http://schemas.openxmlformats.org/officeDocument/2006/relationships/notesMaster" Target="/ppt/notesMasters/notesMaster1.xml" Id="Rc3ce840c448b40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d1da421f2a4bdf" /><Relationship Type="http://schemas.openxmlformats.org/officeDocument/2006/relationships/notesMaster" Target="/ppt/notesMasters/notesMaster1.xml" Id="R8d86cd3298784c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bc750ccf5447c9" /><Relationship Type="http://schemas.openxmlformats.org/officeDocument/2006/relationships/notesMaster" Target="/ppt/notesMasters/notesMaster1.xml" Id="R27923946cd1946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d0c53770cf4a00" /><Relationship Type="http://schemas.openxmlformats.org/officeDocument/2006/relationships/notesMaster" Target="/ppt/notesMasters/notesMaster1.xml" Id="Rb1e733e8adae4d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42a2e8a7a04725" /><Relationship Type="http://schemas.openxmlformats.org/officeDocument/2006/relationships/notesMaster" Target="/ppt/notesMasters/notesMaster1.xml" Id="R41911edecc7a41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816aeb87904441" /><Relationship Type="http://schemas.openxmlformats.org/officeDocument/2006/relationships/notesMaster" Target="/ppt/notesMasters/notesMaster1.xml" Id="R79df603b34cd44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b8cd99e3984de7" /><Relationship Type="http://schemas.openxmlformats.org/officeDocument/2006/relationships/notesMaster" Target="/ppt/notesMasters/notesMaster1.xml" Id="R48dafdcc7ee249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0d24615e8e4bdc" /><Relationship Type="http://schemas.openxmlformats.org/officeDocument/2006/relationships/notesMaster" Target="/ppt/notesMasters/notesMaster1.xml" Id="R41a1997c2b8c44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64276fc2774adc" /><Relationship Type="http://schemas.openxmlformats.org/officeDocument/2006/relationships/notesMaster" Target="/ppt/notesMasters/notesMaster1.xml" Id="Rbe22e429a22349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d2226e7733045c3" /><Relationship Type="http://schemas.openxmlformats.org/officeDocument/2006/relationships/notesMaster" Target="/ppt/notesMasters/notesMaster1.xml" Id="R31dc19a12dfa41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Support Copilot помогает инженерам технической поддержки MIDAS работать с документацией. Это накопительный дипломный проект: от клиента языковой модели и обработки ошибок до Telegram-интерфейса, поиска по мануалам и агента с сохраняемым состоянием. Покажу задачу, принятую архитектуру, причины решений и фактические результаты проверки на 21 октября 2026 года. Ответственность за инженерное решение остаётся у специалиста.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docs/final_technical_documentation.md</a:t>
            </a:r>
          </a:p>
          <a:p xmlns:a="http://schemas.openxmlformats.org/drawingml/2006/main">
            <a:r>
              <a:t>- docs/final_acceptance.md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Обложка: концептуальная иллюстрация, встроенный Imagegen, 21.10.2026. Не является изображением реального расчёта или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Инженеру нужно найти точные сведения в объёмных мануалах, связать их с вопросом пользователя и подготовить понятный ответ. Ассистент принимает вопрос в Telegram и учитывает продолжение диалога. Для технического ответа он ищет материалы в разрешённом корпусе, формулирует пояснение и показывает источники. Инженер открывает оригинал и проверяет утверждения. Если требуется внешняя отправка, сначала появляется полный черновик с адресатом, затем отдельное подтверждение. Ценность проекта состоит в объединении поиска, диалога и подготовки ответа в одном рабочем интерфейсе. Экономию рабочего времени мы отдельно не измеряли.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docs/telegram_bot.md</a:t>
            </a:r>
          </a:p>
          <a:p xmlns:a="http://schemas.openxmlformats.org/drawingml/2006/main">
            <a:r>
              <a:t>- docs/final_technical_documentation.md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принятом корпусе десять канонических источников по GTS NX и Civil: девять PDF и один CHM. Шестьдесят производных HTML-зеркал намеренно исключены, поэтому их нельзя считать отдельными руководствами. Структурный каталог учитывает 1936 страниц или topics, из которых 1934 имеют текст. Docstore содержит 1934 документа, а Qdrant — 14139 векторов. Это разные единицы учёта. Для фрагмента сохраняются источник, физическая страница PDF либо CHM topic и хэш ревизии. Сверка каталога, docstore и всех точек Qdrant не выявила расхождений; повторная индексация не потребовалась. Полноту ответов проверяли отдельно.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docs/data_inventory.md</a:t>
            </a:r>
          </a:p>
          <a:p xmlns:a="http://schemas.openxmlformats.org/drawingml/2006/main">
            <a:r>
              <a:t>- docs/evidence/diploma_2026-10-21/post_restart_index_audit.json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Telegram-бот отвечает за приём сообщений, кнопки и отображение ответа. Через HTTPX он обращается к FastAPI. ChatService проверяет владельца, сохраняет сообщения, обрабатывает вложения и модерацию. ChatAgent связывает чат с приватным thread persistent LangGraph. Один агент получает материалы от RAGService и вызывает модель. PostgreSQL хранит пользовательскую историю и отдельно checkpoints исполнения. Qdrant хранит векторы и metadata, Redis используется для кеша общего API и дедупликации отправок. Эти компоненты не являются отдельными LLM-агентами. В текущем agent-пути provider stream сначала собирается, затем ответ проходит grounding и модерацию. Поэтому SSE не означает немедленную передачу сырых токенов модели в Telegram.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docs/architecture_patterns.md</a:t>
            </a:r>
          </a:p>
          <a:p xmlns:a="http://schemas.openxmlformats.org/drawingml/2006/main">
            <a:r>
              <a:t>- docs/final_agent_graph.md</a:t>
            </a:r>
          </a:p>
          <a:p xmlns:a="http://schemas.openxmlformats.org/drawingml/2006/main">
            <a:r>
              <a:t>- app/chat/service.py</a:t>
            </a:r>
          </a:p>
          <a:p xmlns:a="http://schemas.openxmlformats.org/drawingml/2006/main">
            <a:r>
              <a:t>- app/services/agent_persistent.py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Стек подчинён обязанностям компонентов. Aiogram работает с Telegram, HTTPX связывает бот с backend. FastAPI и Pydantic задают HTTP-контракты и проверку входа. LangGraph хранит и продолжает состояние агента, OpenAI SDK закрывает внешнюю модельную границу. LlamaIndex используется для ingestion и nodes, Qdrant — для dense-поиска, собственный BM25 дополняет его. PostgreSQL и Redis решают разные задачи хранения и доставки. Python 3.13, uv.lock и Docker фиксируют окружение. Phoenix tracing и локальный reranker поддержаны как опции; наличие зависимости не означает её включение в каждый запрос. В принятом профиле reranker выключен.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docs/technology_stack.md</a:t>
            </a:r>
          </a:p>
          <a:p xmlns:a="http://schemas.openxmlformats.org/drawingml/2006/main">
            <a:r>
              <a:t>- pyproject.toml</a:t>
            </a:r>
          </a:p>
          <a:p xmlns:a="http://schemas.openxmlformats.org/drawingml/2006/main">
            <a:r>
              <a:t>- uv.lock</a:t>
            </a:r>
          </a:p>
          <a:p xmlns:a="http://schemas.openxmlformats.org/drawingml/2006/main">
            <a:r>
              <a:t>- compose.yaml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Принятый профиль использует gpt-6-luna через Responses API, reasoning medium для краткого и подробного ответа и service tier priority. В сравнении 15 октября исследовали mini и несколько уровней reasoning Luna, всего 384 ответа в fixed и live частях. В таблице показана только историческая fixed-часть в Standard: по 48 ответов на вариант при одинаковых фрагментах. Текущий профиль использует Priority. В том опыте краткая видимая цель была 500 токенов, сейчас — 800. Medium сохранил среднюю полноту mini 0.906 при меньшей расчётной стоимости генерации. Low стоил меньше, но получил 0.875. Mini был быстрее; выбор Luna не означает победу по каждой метрике. Стоимость относится к сохранённому usage и тарифам того опыта, исключает query embeddings и condense и не является счётом провайдера. Видимые цели 800 и 1500 токенов дополняются reasoning reserve 8192 в общем output cap.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docs/luna_runtime_evaluation.md</a:t>
            </a:r>
          </a:p>
          <a:p xmlns:a="http://schemas.openxmlformats.org/drawingml/2006/main">
            <a:r>
              <a:t>- docs/final_technical_documentation.md</a:t>
            </a:r>
          </a:p>
          <a:p xmlns:a="http://schemas.openxmlformats.org/drawingml/2006/main">
            <a:r>
              <a:t>- docs/evidence/diploma_2026-10-21/post_restart_runtime_manifest.json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Ingestion сохраняет структуру и происхождение документа. EvidenceSplitter удерживает строки таблиц и другие атомарные блоки, а recursive-разбиение использует размер 1024 токена и overlap 64. Embeddings text-embedding-3-large сокращены до 1024 измерений. Это втрое меньше float32-координат, чем 3072, но сравнительную победу над small на финальном корпусе мы не заявляем. Qdrant выбран из-за уже проверенной интеграции и metadata-фильтров; альтернативой был pgvector. Dense- и BM25-выдачи объединяются RRF с дедупликацией и продуктовыми фильтрами. Prepared-пакет содержит до 12000 символов, дополнительные прицельные материалы — ещё до 6000 символов. Это символы, не токены. Top-k 10 относится к исходному поиску, а не к числу цитат. Модель отвечает по тексту evidence и может уточнить поиск.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docs/architecture_patterns.md</a:t>
            </a:r>
          </a:p>
          <a:p xmlns:a="http://schemas.openxmlformats.org/drawingml/2006/main">
            <a:r>
              <a:t>- docs/final_technical_documentation.md</a:t>
            </a:r>
          </a:p>
          <a:p xmlns:a="http://schemas.openxmlformats.org/drawingml/2006/main">
            <a:r>
              <a:t>- app/services/ingestion.py</a:t>
            </a:r>
          </a:p>
          <a:p xmlns:a="http://schemas.openxmlformats.org/drawingml/2006/main">
            <a:r>
              <a:t>- app/services/rag.py</a:t>
            </a:r>
          </a:p>
          <a:p xmlns:a="http://schemas.openxmlformats.org/drawingml/2006/main">
            <a:r>
              <a:t>- app/services/prepared_evidence.py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Один persistent агент сохраняет общий контекст вопроса и поиска. Альтернативный учебный supervisor последовательно передавал задачу researcher и writer. На пяти одинаковых mock-KB вопросах этот вариант добавил 33.63 процента токенов и 77.36 процента медианной задержки. Его оценка одного модельного судьи также была ниже. Набор мал и не доказывает универсального превосходства одного агента, но не обосновывает усложнение текущего workflow. Для внешней отправки граф сохраняет адресата, полный текст и UUID черновика, затем приостанавливается. Только владелец может подтвердить актуальный draft. Redis подавляет повторную доставку. Неизвестный исход требует сверки. Кнопка «Подробнее» отдельно предупреждает о расходе и резервирует генерацию до оплачиваемого вызова.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docs/multi-agent-report.md</a:t>
            </a:r>
          </a:p>
          <a:p xmlns:a="http://schemas.openxmlformats.org/drawingml/2006/main">
            <a:r>
              <a:t>- docs/unified_agent.md</a:t>
            </a:r>
          </a:p>
          <a:p xmlns:a="http://schemas.openxmlformats.org/drawingml/2006/main">
            <a:r>
              <a:t>- docs/final_agent_graph.md</a:t>
            </a:r>
          </a:p>
          <a:p xmlns:a="http://schemas.openxmlformats.org/drawingml/2006/main">
            <a:r>
              <a:t>- app/services/agent_persistent.py</a:t>
            </a:r>
          </a:p>
          <a:p xmlns:a="http://schemas.openxmlformats.org/drawingml/2006/main">
            <a:r>
              <a:t>- bot/web.py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Пользовательская история и checkpoint решают разные задачи: история нужна для просмотра и обратной связи, checkpoint сохраняет позицию исполнения и ожидающее подтверждение. После рестарта у всех сорока изолированных учебных чатов совпали количества сообщений и хэши полной истории. Доступ другого владельца закрыт; очистка удаляет обе части под общей блокировкой. Ограничения generation 60 секунд и turn 90 секунд нужны для завершения зависшей работы, а не для обещания времени ответа. Сбой поиска отличается от пустой выдачи, пользователю возвращается понятный результат. В текущей конфигурации один API worker, локальные блокировки процесса. History и checkpoints используют раздельные транзакции. Общую exactly-once гарантию между базой, графом и Telegram мы не заявляем.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docs/final_acceptance.md</a:t>
            </a:r>
          </a:p>
          <a:p xmlns:a="http://schemas.openxmlformats.org/drawingml/2006/main">
            <a:r>
              <a:t>- docs/unified_agent.md</a:t>
            </a:r>
          </a:p>
          <a:p xmlns:a="http://schemas.openxmlformats.org/drawingml/2006/main">
            <a:r>
              <a:t>- docs/evidence/diploma_2026-10-21/history_after.json</a:t>
            </a:r>
          </a:p>
          <a:p xmlns:a="http://schemas.openxmlformats.org/drawingml/2006/main">
            <a:r>
              <a:t>- app/chat/agent.py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70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Самостоятельная проверка включала 43 сценария и пять расширений. На 34 эталонных вопросах получили 27 полных ответов и семь частичных, нулевых оценок не было. Средний rubric score равен 0.897, его нельзя называть accuracy 89.7 процента. Отдельно проверены 154 использования источников: 143 автоматически и 11 вручную по оригиналам. Верность locator не доказывает полноту инженерного ответа. Offline suite завершился с 1522 passed и 12 skipped; 11 PostgreSQL skips проверили отдельным контрактным прогоном на одноразовой БД, 25 passed. Один Windows symlink skip остался. HTTP wall time: медиана 7.63, p95 14.27, максимум 24.03 секунды. Это не TTFT и не доставка Telegram. Эти 43+5 ответа собраны до узкого исправления первого неопределённого вопроса. После него прошли полный offline suite и focused live regression, а пользователь отдельно принял Telegram.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docs/final_acceptance.md</a:t>
            </a:r>
          </a:p>
          <a:p xmlns:a="http://schemas.openxmlformats.org/drawingml/2006/main">
            <a:r>
              <a:t>- docs/evidence/diploma_2026-10-21/test_summary.json</a:t>
            </a:r>
          </a:p>
          <a:p xmlns:a="http://schemas.openxmlformats.org/drawingml/2006/main">
            <a:r>
              <a:t>- docs/evidence/diploma_2026-10-21/semantic_review.json</a:t>
            </a:r>
          </a:p>
          <a:p xmlns:a="http://schemas.openxmlformats.org/drawingml/2006/main">
            <a:r>
              <a:t>- docs/evidence/diploma_2026-10-21/source_audit.json</a:t>
            </a:r>
          </a:p>
          <a:p xmlns:a="http://schemas.openxmlformats.org/drawingml/2006/main">
            <a:r>
              <a:t>- docs/evidence/diploma_2026-10-21/manual_source_review.json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секунд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Получился работающий помощник инженера: единый Telegram-диалог, поиск по мануалам, проверяемые источники и контролируемые действия с сохраняемым состоянием. Пользователь выполнил предложенную проверку в Telegram и принял результат. При этом семь основных ответов остаются частичными, в частности по DOF и Mohr–Coulomb. Корпус неполон, а часть формул и изображений требует проверенного извлечения. Полный research gate S0-005 и время доставки всех ответов за 10–15 секунд не подтверждены. Все 34 домашних задания учтены в матрице, согласованные пропуски опытов ДЗ 1–4 явно сохранены. После сдачи продолжим пополнение корпуса и улучшение полноты, затем повторим независимую оценку. Текущая система помогает специалисту, который проверяет её технические выводы.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- docs/final_acceptance.md</a:t>
            </a:r>
          </a:p>
          <a:p xmlns:a="http://schemas.openxmlformats.org/drawingml/2006/main">
            <a:r>
              <a:t>- docs/data_inventory.md</a:t>
            </a:r>
          </a:p>
          <a:p xmlns:a="http://schemas.openxmlformats.org/drawingml/2006/main">
            <a:r>
              <a:t>- docs/homework_coverage.md</a:t>
            </a:r>
          </a:p>
          <a:p xmlns:a="http://schemas.openxmlformats.org/drawingml/2006/main">
            <a:r>
              <a:t>- docs/evidence/diploma_2026-10-21/user_acceptance.json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1ecdd32b2d424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975c4678cd40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61d5456136486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1a5741ddfe45b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7f1d0e2d7b44a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a0a7c506174b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A1465A0-ACD4-4A75-A022-B7E99E0B60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CAD56A7-6B62-4237-A992-697E0515DD4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11261C6-EE6C-44E4-894B-77AF6976EE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CB03A0-B0DA-4A15-B037-40A024ED69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ED5BF5A-E91D-4FBD-A0BC-FA7D99FBE8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67CF8FF-10A5-4BCF-8E92-2FD8F8C77F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B620B73-3A81-4451-8230-F86C6C1EFD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0D6C3E9-2369-4F02-9B53-9C12622934F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800084-CB78-4493-9BBD-1B2DD7251D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BF84023-06B7-44B8-97E7-A284AAA71A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ee4dc2f6db4cb5" /><Relationship Type="http://schemas.openxmlformats.org/officeDocument/2006/relationships/slideLayout" Target="/ppt/slideLayouts/slideLayout1.xml" Id="R8963f0d1791b4b3f" /><Relationship Type="http://schemas.openxmlformats.org/officeDocument/2006/relationships/slideLayout" Target="/ppt/slideLayouts/slideLayout2.xml" Id="R13948d46c68148f1" /><Relationship Type="http://schemas.openxmlformats.org/officeDocument/2006/relationships/slideLayout" Target="/ppt/slideLayouts/slideLayout3.xml" Id="R3e303eabeb5848f1" /><Relationship Type="http://schemas.openxmlformats.org/officeDocument/2006/relationships/slideLayout" Target="/ppt/slideLayouts/slideLayout4.xml" Id="Rc23c1834ab1043d7" /><Relationship Type="http://schemas.openxmlformats.org/officeDocument/2006/relationships/slideLayout" Target="/ppt/slideLayouts/slideLayout5.xml" Id="R46750478bc7d4d7d" /><Relationship Type="http://schemas.openxmlformats.org/officeDocument/2006/relationships/slideLayout" Target="/ppt/slideLayouts/slideLayout6.xml" Id="R6c05e498d73942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63f0d1791b4b3f"/>
    <p:sldLayoutId xmlns:r="http://schemas.openxmlformats.org/officeDocument/2006/relationships" id="2147483650" r:id="R13948d46c68148f1"/>
    <p:sldLayoutId xmlns:r="http://schemas.openxmlformats.org/officeDocument/2006/relationships" id="2147483651" r:id="R3e303eabeb5848f1"/>
    <p:sldLayoutId xmlns:r="http://schemas.openxmlformats.org/officeDocument/2006/relationships" id="2147483652" r:id="Rc23c1834ab1043d7"/>
    <p:sldLayoutId xmlns:r="http://schemas.openxmlformats.org/officeDocument/2006/relationships" id="2147483653" r:id="R46750478bc7d4d7d"/>
    <p:sldLayoutId xmlns:r="http://schemas.openxmlformats.org/officeDocument/2006/relationships" id="2147483654" r:id="R6c05e498d73942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69df5df6bc4a7e" /><Relationship Type="http://schemas.openxmlformats.org/officeDocument/2006/relationships/image" Target="/ppt/media/image.png" Id="R9b76e3aa00c24be0" /><Relationship Type="http://schemas.openxmlformats.org/officeDocument/2006/relationships/notesSlide" Target="/ppt/notesSlides/notesSlide1.xml" Id="Rc2cb5faf9ff64a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8d831e806f4038" /><Relationship Type="http://schemas.openxmlformats.org/officeDocument/2006/relationships/notesSlide" Target="/ppt/notesSlides/notesSlide2.xml" Id="Raeec75860cf843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cdeb2d7ff546f7" /><Relationship Type="http://schemas.openxmlformats.org/officeDocument/2006/relationships/notesSlide" Target="/ppt/notesSlides/notesSlide3.xml" Id="Rc4ab46fc94c642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a1f474d07f436b" /><Relationship Type="http://schemas.openxmlformats.org/officeDocument/2006/relationships/notesSlide" Target="/ppt/notesSlides/notesSlide4.xml" Id="R41c0b61305ab4e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85d0fe2fb3409f" /><Relationship Type="http://schemas.openxmlformats.org/officeDocument/2006/relationships/notesSlide" Target="/ppt/notesSlides/notesSlide5.xml" Id="R4612ebb982244d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98f6a78d1b4438" /><Relationship Type="http://schemas.openxmlformats.org/officeDocument/2006/relationships/notesSlide" Target="/ppt/notesSlides/notesSlide6.xml" Id="R5c1f7b2985c14d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9c7147ba774b14" /><Relationship Type="http://schemas.openxmlformats.org/officeDocument/2006/relationships/notesSlide" Target="/ppt/notesSlides/notesSlide7.xml" Id="R045a545691b048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ba3173b798469e" /><Relationship Type="http://schemas.openxmlformats.org/officeDocument/2006/relationships/notesSlide" Target="/ppt/notesSlides/notesSlide8.xml" Id="R761d86ed06e842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1bfde1e06843e3" /><Relationship Type="http://schemas.openxmlformats.org/officeDocument/2006/relationships/notesSlide" Target="/ppt/notesSlides/notesSlide9.xml" Id="Ra02eb65d2a474a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9eb24bafd94159" /><Relationship Type="http://schemas.openxmlformats.org/officeDocument/2006/relationships/chart" Target="/ppt/slides/charts/chart1.xml" Id="R044581014dfa4336" /><Relationship Type="http://schemas.openxmlformats.org/officeDocument/2006/relationships/notesSlide" Target="/ppt/notesSlides/notesSlide10.xml" Id="Rc117206d312e4d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a2f425b6894a50" /><Relationship Type="http://schemas.openxmlformats.org/officeDocument/2006/relationships/notesSlide" Target="/ppt/notesSlides/notesSlide11.xml" Id="R58850538f845420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Ответы</c:v>
          </c:tx>
          <c:spPr>
            <a:solidFill xmlns:a="http://schemas.openxmlformats.org/drawingml/2006/main">
              <a:srgbClr val="087E83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087E8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47728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Полные</c:v>
                </c:pt>
                <c:pt idx="1">
                  <c:v>Частичные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27</c:v>
                </c:pt>
                <c:pt idx="1">
                  <c:v>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 b="1">
                  <a:solidFill>
                    <a:srgbClr val="1734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34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7F5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5F7F5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1">
            <a:extLst xmlns:a="http://schemas.openxmlformats.org/drawingml/2006/main">
              <a:ext uri="{FF2B5EF4-FFF2-40B4-BE49-F238E27FC236}">
                <a16:creationId xmlns:a16="http://schemas.microsoft.com/office/drawing/2014/main" id="{9C1A719E-35B7-430D-B435-AB5F2767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1C5"/>
                </a:solidFill>
                <a:latin typeface="Arial"/>
                <a:ea typeface="Arial"/>
                <a:cs typeface="Arial"/>
              </a:rPr>
              <a:t>01 / 11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F19F09-1646-4395-8FC2-42ABD68AA6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6e3aa00c24be0"/>
          <a:stretch xmlns:a="http://schemas.openxmlformats.org/drawingml/2006/main"/>
        </p:blipFill>
        <p:spPr>
          <a:xfrm xmlns:a="http://schemas.openxmlformats.org/drawingml/2006/main">
            <a:off x="6191250" y="409575"/>
            <a:ext cx="5810250" cy="5810250"/>
          </a:xfrm>
          <a:prstGeom xmlns:a="http://schemas.openxmlformats.org/drawingml/2006/main" prst="rect">
            <a:avLst/>
          </a:prstGeom>
        </p:spPr>
      </p:pic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321ECB2-17E1-47CA-BA23-778E619C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552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Copilot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CB69B54-7FA3-4356-A979-0B34865F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542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B6D1C5"/>
                </a:solidFill>
                <a:latin typeface="Arial"/>
                <a:ea typeface="Arial"/>
                <a:cs typeface="Arial"/>
              </a:rPr>
              <a:t>ИИ-ассистент технической</a:t>
            </a:r>
          </a:p>
          <a:p xmlns:a="http://schemas.openxmlformats.org/drawingml/2006/main">
            <a:pPr algn="l">
              <a:defRPr sz="24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B6D1C5"/>
                </a:solidFill>
                <a:latin typeface="Arial"/>
                <a:ea typeface="Arial"/>
                <a:cs typeface="Arial"/>
              </a:rPr>
              <a:t>поддержки MIDAS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AB59CFC-CD8D-4A69-B8F2-ED7036D6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Дипломный проект</a:t>
            </a:r>
          </a:p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 октября 2026 года</a:t>
            </a:r>
          </a:p>
        </p:txBody>
      </p:sp>
    </p:spTree>
    <p:extLst>
      <p:ext uri="{BB962C8B-B14F-4D97-AF65-F5344CB8AC3E}">
        <p14:creationId xmlns:p14="http://schemas.microsoft.com/office/powerpoint/2010/main" val="17577286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6D7D55-6F2E-4401-9793-020F2DD0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Задача и рабочий сценарий</a:t>
            </a:r>
          </a:p>
        </p:txBody>
      </p:sp>
      <p:sp>
        <p:nvSpPr>
          <p:cNvPr id="2" name="text-5">
            <a:extLst xmlns:a="http://schemas.openxmlformats.org/drawingml/2006/main">
              <a:ext uri="{FF2B5EF4-FFF2-40B4-BE49-F238E27FC236}">
                <a16:creationId xmlns:a16="http://schemas.microsoft.com/office/drawing/2014/main" id="{4ACC934A-59F7-4BC6-BBFD-7E6B2F32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02 / 11</a:t>
            </a:r>
          </a:p>
        </p:txBody>
      </p:sp>
      <p:sp>
        <p:nvSpPr>
          <p:cNvPr id="3" name="text-6">
            <a:extLst xmlns:a="http://schemas.openxmlformats.org/drawingml/2006/main">
              <a:ext uri="{FF2B5EF4-FFF2-40B4-BE49-F238E27FC236}">
                <a16:creationId xmlns:a16="http://schemas.microsoft.com/office/drawing/2014/main" id="{DFC1E060-EE77-41B3-837F-29D10947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Проверяемый ответ по мануалам</a:t>
            </a:r>
          </a:p>
          <a:p xmlns:a="http://schemas.openxmlformats.org/drawingml/2006/main">
            <a:pPr algn="l">
              <a:defRPr sz="27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в привычном интерфейсе инженера</a:t>
            </a:r>
          </a:p>
        </p:txBody>
      </p:sp>
      <p:sp>
        <p:nvSpPr>
          <p:cNvPr id="4" name="text-7">
            <a:extLst xmlns:a="http://schemas.openxmlformats.org/drawingml/2006/main">
              <a:ext uri="{FF2B5EF4-FFF2-40B4-BE49-F238E27FC236}">
                <a16:creationId xmlns:a16="http://schemas.microsoft.com/office/drawing/2014/main" id="{D1310C00-F643-47EC-8586-738DE490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03596DEA-A28B-4B1C-93F3-0571C3C0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Вопрос</a:t>
            </a:r>
          </a:p>
        </p:txBody>
      </p:sp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6E4F8EC8-1F9B-4E9C-B4F1-3CDAB664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428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Продукт, задача</a:t>
            </a:r>
          </a:p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и контекст обращения</a:t>
            </a:r>
          </a:p>
        </p:txBody>
      </p:sp>
      <p:sp>
        <p:nvSpPr>
          <p:cNvPr id="7" name="text-10">
            <a:extLst xmlns:a="http://schemas.openxmlformats.org/drawingml/2006/main">
              <a:ext uri="{FF2B5EF4-FFF2-40B4-BE49-F238E27FC236}">
                <a16:creationId xmlns:a16="http://schemas.microsoft.com/office/drawing/2014/main" id="{109DF1BE-9EF4-47A2-8ECA-992582E9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432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text-11">
            <a:extLst xmlns:a="http://schemas.openxmlformats.org/drawingml/2006/main">
              <a:ext uri="{FF2B5EF4-FFF2-40B4-BE49-F238E27FC236}">
                <a16:creationId xmlns:a16="http://schemas.microsoft.com/office/drawing/2014/main" id="{6049F7FA-09D9-45F1-A87B-D3E768FC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8290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Поиск</a:t>
            </a:r>
          </a:p>
        </p:txBody>
      </p:sp>
      <p:sp>
        <p:nvSpPr>
          <p:cNvPr id="9" name="text-12">
            <a:extLst xmlns:a="http://schemas.openxmlformats.org/drawingml/2006/main">
              <a:ext uri="{FF2B5EF4-FFF2-40B4-BE49-F238E27FC236}">
                <a16:creationId xmlns:a16="http://schemas.microsoft.com/office/drawing/2014/main" id="{EDDD714D-CE50-4668-95F9-F40ED4A7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457700"/>
            <a:ext cx="2428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Фрагменты мануалов</a:t>
            </a:r>
          </a:p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с происхождением</a:t>
            </a:r>
          </a:p>
        </p:txBody>
      </p:sp>
      <p:sp>
        <p:nvSpPr>
          <p:cNvPr id="10" name="text-13">
            <a:extLst xmlns:a="http://schemas.openxmlformats.org/drawingml/2006/main">
              <a:ext uri="{FF2B5EF4-FFF2-40B4-BE49-F238E27FC236}">
                <a16:creationId xmlns:a16="http://schemas.microsoft.com/office/drawing/2014/main" id="{8BA48429-14DD-4A39-A375-F7F5BE8A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432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text-14">
            <a:extLst xmlns:a="http://schemas.openxmlformats.org/drawingml/2006/main">
              <a:ext uri="{FF2B5EF4-FFF2-40B4-BE49-F238E27FC236}">
                <a16:creationId xmlns:a16="http://schemas.microsoft.com/office/drawing/2014/main" id="{2D875B5D-B31F-4A5D-84C1-7DDCA35F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290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Ответ</a:t>
            </a:r>
          </a:p>
        </p:txBody>
      </p:sp>
      <p:sp>
        <p:nvSpPr>
          <p:cNvPr id="12" name="text-15">
            <a:extLst xmlns:a="http://schemas.openxmlformats.org/drawingml/2006/main">
              <a:ext uri="{FF2B5EF4-FFF2-40B4-BE49-F238E27FC236}">
                <a16:creationId xmlns:a16="http://schemas.microsoft.com/office/drawing/2014/main" id="{6D63154A-D1DF-4868-B031-341620C4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57700"/>
            <a:ext cx="2428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Пояснение, цитаты</a:t>
            </a:r>
          </a:p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и оригиналы</a:t>
            </a:r>
          </a:p>
        </p:txBody>
      </p:sp>
      <p:sp>
        <p:nvSpPr>
          <p:cNvPr id="13" name="text-16">
            <a:extLst xmlns:a="http://schemas.openxmlformats.org/drawingml/2006/main">
              <a:ext uri="{FF2B5EF4-FFF2-40B4-BE49-F238E27FC236}">
                <a16:creationId xmlns:a16="http://schemas.microsoft.com/office/drawing/2014/main" id="{F0FD8005-570F-4237-80D0-9CBEEEFA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432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text-17">
            <a:extLst xmlns:a="http://schemas.openxmlformats.org/drawingml/2006/main">
              <a:ext uri="{FF2B5EF4-FFF2-40B4-BE49-F238E27FC236}">
                <a16:creationId xmlns:a16="http://schemas.microsoft.com/office/drawing/2014/main" id="{84EE9608-0D98-40B1-842B-513E9A69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290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Решение</a:t>
            </a:r>
          </a:p>
        </p:txBody>
      </p:sp>
      <p:sp>
        <p:nvSpPr>
          <p:cNvPr id="15" name="text-18">
            <a:extLst xmlns:a="http://schemas.openxmlformats.org/drawingml/2006/main">
              <a:ext uri="{FF2B5EF4-FFF2-40B4-BE49-F238E27FC236}">
                <a16:creationId xmlns:a16="http://schemas.microsoft.com/office/drawing/2014/main" id="{C398BC6A-956D-4A7C-9697-E67E42EB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457700"/>
            <a:ext cx="2428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Проверка инженером</a:t>
            </a:r>
          </a:p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и согласие на отправку</a:t>
            </a:r>
          </a:p>
        </p:txBody>
      </p:sp>
      <p:sp>
        <p:nvSpPr>
          <p:cNvPr id="16" name="text-19">
            <a:extLst xmlns:a="http://schemas.openxmlformats.org/drawingml/2006/main">
              <a:ext uri="{FF2B5EF4-FFF2-40B4-BE49-F238E27FC236}">
                <a16:creationId xmlns:a16="http://schemas.microsoft.com/office/drawing/2014/main" id="{85E97AF8-818E-4E2D-BA53-8047E5D2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07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Инженер сохраняет контроль над фактами и внешними действиями</a:t>
            </a:r>
          </a:p>
        </p:txBody>
      </p:sp>
    </p:spTree>
    <p:extLst>
      <p:ext uri="{BB962C8B-B14F-4D97-AF65-F5344CB8AC3E}">
        <p14:creationId xmlns:p14="http://schemas.microsoft.com/office/powerpoint/2010/main" val="1290824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CD1893-4836-4877-8FC9-EC9F3A5F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Корпус и происхождение данных</a:t>
            </a:r>
          </a:p>
        </p:txBody>
      </p:sp>
      <p:sp>
        <p:nvSpPr>
          <p:cNvPr id="2" name="text-20">
            <a:extLst xmlns:a="http://schemas.openxmlformats.org/drawingml/2006/main">
              <a:ext uri="{FF2B5EF4-FFF2-40B4-BE49-F238E27FC236}">
                <a16:creationId xmlns:a16="http://schemas.microsoft.com/office/drawing/2014/main" id="{9D732226-A1DF-4E98-BE43-8789911D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03 / 11</a:t>
            </a:r>
          </a:p>
        </p:txBody>
      </p:sp>
      <p:sp>
        <p:nvSpPr>
          <p:cNvPr id="3" name="text-21">
            <a:extLst xmlns:a="http://schemas.openxmlformats.org/drawingml/2006/main">
              <a:ext uri="{FF2B5EF4-FFF2-40B4-BE49-F238E27FC236}">
                <a16:creationId xmlns:a16="http://schemas.microsoft.com/office/drawing/2014/main" id="{8B82D9CB-E55B-410B-B6D9-69C6F870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095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750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text-22">
            <a:extLst xmlns:a="http://schemas.openxmlformats.org/drawingml/2006/main">
              <a:ext uri="{FF2B5EF4-FFF2-40B4-BE49-F238E27FC236}">
                <a16:creationId xmlns:a16="http://schemas.microsoft.com/office/drawing/2014/main" id="{8D002AC0-7EEE-4424-8EDB-916A2D4C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канонических источников</a:t>
            </a:r>
          </a:p>
        </p:txBody>
      </p:sp>
      <p:sp>
        <p:nvSpPr>
          <p:cNvPr id="5" name="text-23">
            <a:extLst xmlns:a="http://schemas.openxmlformats.org/drawingml/2006/main">
              <a:ext uri="{FF2B5EF4-FFF2-40B4-BE49-F238E27FC236}">
                <a16:creationId xmlns:a16="http://schemas.microsoft.com/office/drawing/2014/main" id="{D0D4377D-9D88-468E-95BB-F3DE0C61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38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9 PDF и 1 CHM</a:t>
            </a:r>
          </a:p>
          <a:p xmlns:a="http://schemas.openxmlformats.org/drawingml/2006/main">
            <a: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GTS NX и Civil</a:t>
            </a:r>
          </a:p>
        </p:txBody>
      </p:sp>
      <p:sp>
        <p:nvSpPr>
          <p:cNvPr id="6" name="text-24">
            <a:extLst xmlns:a="http://schemas.openxmlformats.org/drawingml/2006/main">
              <a:ext uri="{FF2B5EF4-FFF2-40B4-BE49-F238E27FC236}">
                <a16:creationId xmlns:a16="http://schemas.microsoft.com/office/drawing/2014/main" id="{BFD70127-B0B1-4D02-A573-800A12C3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143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750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14 139</a:t>
            </a:r>
          </a:p>
        </p:txBody>
      </p:sp>
      <p:sp>
        <p:nvSpPr>
          <p:cNvPr id="7" name="text-25">
            <a:extLst xmlns:a="http://schemas.openxmlformats.org/drawingml/2006/main">
              <a:ext uri="{FF2B5EF4-FFF2-40B4-BE49-F238E27FC236}">
                <a16:creationId xmlns:a16="http://schemas.microsoft.com/office/drawing/2014/main" id="{6ECFF968-ACE7-4342-BD63-BEA4B256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62275"/>
            <a:ext cx="514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векторов в Qdrant</a:t>
            </a:r>
          </a:p>
        </p:txBody>
      </p:sp>
      <p:sp>
        <p:nvSpPr>
          <p:cNvPr id="8" name="text-26">
            <a:extLst xmlns:a="http://schemas.openxmlformats.org/drawingml/2006/main">
              <a:ext uri="{FF2B5EF4-FFF2-40B4-BE49-F238E27FC236}">
                <a16:creationId xmlns:a16="http://schemas.microsoft.com/office/drawing/2014/main" id="{492207F0-D94F-47E5-977F-0E77B512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195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60 HTML-зеркал исключены</a:t>
            </a:r>
          </a:p>
          <a:p xmlns:a="http://schemas.openxmlformats.org/drawingml/2006/main">
            <a:pPr algn="l">
              <a:defRPr sz="20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Источник и ревизия сохраняются</a:t>
            </a:r>
          </a:p>
        </p:txBody>
      </p:sp>
      <p:sp>
        <p:nvSpPr>
          <p:cNvPr id="9" name="text-27">
            <a:extLst xmlns:a="http://schemas.openxmlformats.org/drawingml/2006/main">
              <a:ext uri="{FF2B5EF4-FFF2-40B4-BE49-F238E27FC236}">
                <a16:creationId xmlns:a16="http://schemas.microsoft.com/office/drawing/2014/main" id="{B60203B3-E909-4915-9172-429C490C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Страница PDF или CHM topic сопровождают найденный фрагмент</a:t>
            </a:r>
          </a:p>
        </p:txBody>
      </p:sp>
    </p:spTree>
    <p:extLst>
      <p:ext uri="{BB962C8B-B14F-4D97-AF65-F5344CB8AC3E}">
        <p14:creationId xmlns:p14="http://schemas.microsoft.com/office/powerpoint/2010/main" val="1136205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258BBE-0309-4234-96E9-E8F60C41824F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7186613" y="3571875"/>
            <a:ext cx="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E83"/>
            </a:solidFill>
            <a:tailEnd type="triangle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B325EF-B449-4D45-80D3-FB59398A7728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4233863" y="3571875"/>
            <a:ext cx="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E83"/>
            </a:solidFill>
            <a:tailEnd type="triangle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408DC5-B158-4BEA-ABD1-76A72DDBAEB5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401050" y="30956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E83"/>
            </a:solidFill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5F438-E32B-41A5-B735-EE7CD5EE2EBA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400675" y="309562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E83"/>
            </a:solidFill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9C91A0-18F1-40DF-B4E8-F81F4A4F142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590800" y="30956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E83"/>
            </a:solidFill>
            <a:tailEnd type="triangle" w="med" len="med"/>
          </a:ln>
        </p:spPr>
      </p:cxnSp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3C1629-F4B2-49E8-BEF1-FEFB7A97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Архитектура принятой версии</a:t>
            </a:r>
          </a:p>
        </p:txBody>
      </p:sp>
      <p:sp>
        <p:nvSpPr>
          <p:cNvPr id="2" name="text-28">
            <a:extLst xmlns:a="http://schemas.openxmlformats.org/drawingml/2006/main">
              <a:ext uri="{FF2B5EF4-FFF2-40B4-BE49-F238E27FC236}">
                <a16:creationId xmlns:a16="http://schemas.microsoft.com/office/drawing/2014/main" id="{FC5EEB14-34D3-403A-89CF-ACE33FF1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04 / 11</a:t>
            </a:r>
          </a:p>
        </p:txBody>
      </p:sp>
      <p:sp>
        <p:nvSpPr>
          <p:cNvPr id="3" name="text-29">
            <a:extLst xmlns:a="http://schemas.openxmlformats.org/drawingml/2006/main">
              <a:ext uri="{FF2B5EF4-FFF2-40B4-BE49-F238E27FC236}">
                <a16:creationId xmlns:a16="http://schemas.microsoft.com/office/drawing/2014/main" id="{64ACDAC8-CB0B-44AE-829A-8DED47DB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Интерфейс, прикладной сценарий и инфраструктура разделены</a:t>
            </a:r>
          </a:p>
        </p:txBody>
      </p:sp>
      <p:sp>
        <p:nvSpPr>
          <p:cNvPr id="4" name="architecture-30">
            <a:extLst xmlns:a="http://schemas.openxmlformats.org/drawingml/2006/main">
              <a:ext uri="{FF2B5EF4-FFF2-40B4-BE49-F238E27FC236}">
                <a16:creationId xmlns:a16="http://schemas.microsoft.com/office/drawing/2014/main" id="{37EE4526-E7DD-46F2-B18B-9F8E3E57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905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Telegram</a:t>
            </a:r>
          </a:p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aiogram</a:t>
            </a:r>
          </a:p>
        </p:txBody>
      </p:sp>
      <p:sp>
        <p:nvSpPr>
          <p:cNvPr id="5" name="architecture-31">
            <a:extLst xmlns:a="http://schemas.openxmlformats.org/drawingml/2006/main">
              <a:ext uri="{FF2B5EF4-FFF2-40B4-BE49-F238E27FC236}">
                <a16:creationId xmlns:a16="http://schemas.microsoft.com/office/drawing/2014/main" id="{FBBD4A80-CC13-4847-BC4A-728EED6C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619375"/>
            <a:ext cx="2333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FastAPI</a:t>
            </a:r>
          </a:p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ChatService</a:t>
            </a:r>
          </a:p>
        </p:txBody>
      </p:sp>
      <p:sp>
        <p:nvSpPr>
          <p:cNvPr id="6" name="architecture-32">
            <a:extLst xmlns:a="http://schemas.openxmlformats.org/drawingml/2006/main">
              <a:ext uri="{FF2B5EF4-FFF2-40B4-BE49-F238E27FC236}">
                <a16:creationId xmlns:a16="http://schemas.microsoft.com/office/drawing/2014/main" id="{97588C5C-FEF3-495C-8741-2A2E2B18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619375"/>
            <a:ext cx="2428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ChatAgent</a:t>
            </a:r>
          </a:p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LangGraph</a:t>
            </a:r>
          </a:p>
        </p:txBody>
      </p:sp>
      <p:sp>
        <p:nvSpPr>
          <p:cNvPr id="7" name="architecture-33">
            <a:extLst xmlns:a="http://schemas.openxmlformats.org/drawingml/2006/main">
              <a:ext uri="{FF2B5EF4-FFF2-40B4-BE49-F238E27FC236}">
                <a16:creationId xmlns:a16="http://schemas.microsoft.com/office/drawing/2014/main" id="{4B90D596-43C1-476C-8A29-E71903D4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19375"/>
            <a:ext cx="24384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OpenAI</a:t>
            </a:r>
          </a:p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Responses</a:t>
            </a:r>
          </a:p>
        </p:txBody>
      </p:sp>
      <p:sp>
        <p:nvSpPr>
          <p:cNvPr id="11" name="architecture-34">
            <a:extLst xmlns:a="http://schemas.openxmlformats.org/drawingml/2006/main">
              <a:ext uri="{FF2B5EF4-FFF2-40B4-BE49-F238E27FC236}">
                <a16:creationId xmlns:a16="http://schemas.microsoft.com/office/drawing/2014/main" id="{1ED54981-CB6D-41FF-A0D0-56FD1506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19625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PostgreSQL</a:t>
            </a:r>
          </a:p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История и checkpoints</a:t>
            </a:r>
          </a:p>
        </p:txBody>
      </p:sp>
      <p:sp>
        <p:nvSpPr>
          <p:cNvPr id="12" name="architecture-35">
            <a:extLst xmlns:a="http://schemas.openxmlformats.org/drawingml/2006/main">
              <a:ext uri="{FF2B5EF4-FFF2-40B4-BE49-F238E27FC236}">
                <a16:creationId xmlns:a16="http://schemas.microsoft.com/office/drawing/2014/main" id="{EDA3E481-995F-4349-9316-AE53737D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19625"/>
            <a:ext cx="24288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RAGService</a:t>
            </a:r>
          </a:p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Qdrant и BM25</a:t>
            </a:r>
          </a:p>
        </p:txBody>
      </p:sp>
      <p:sp>
        <p:nvSpPr>
          <p:cNvPr id="15" name="text-36">
            <a:extLst xmlns:a="http://schemas.openxmlformats.org/drawingml/2006/main">
              <a:ext uri="{FF2B5EF4-FFF2-40B4-BE49-F238E27FC236}">
                <a16:creationId xmlns:a16="http://schemas.microsoft.com/office/drawing/2014/main" id="{51EA28E8-38FC-4460-89CD-B1508535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676775"/>
            <a:ext cx="2438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Redis</a:t>
            </a:r>
          </a:p>
          <a:p xmlns:a="http://schemas.openxmlformats.org/drawingml/2006/main">
            <a: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Кеш API и контроль</a:t>
            </a:r>
          </a:p>
          <a:p xmlns:a="http://schemas.openxmlformats.org/drawingml/2006/main">
            <a: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повторов доставки</a:t>
            </a:r>
          </a:p>
        </p:txBody>
      </p:sp>
      <p:sp>
        <p:nvSpPr>
          <p:cNvPr id="16" name="text-37">
            <a:extLst xmlns:a="http://schemas.openxmlformats.org/drawingml/2006/main">
              <a:ext uri="{FF2B5EF4-FFF2-40B4-BE49-F238E27FC236}">
                <a16:creationId xmlns:a16="http://schemas.microsoft.com/office/drawing/2014/main" id="{013D8F42-F572-42EB-B098-78B7F765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E83"/>
                </a:solidFill>
                <a:latin typeface="Arial"/>
                <a:ea typeface="Arial"/>
                <a:cs typeface="Arial"/>
              </a:rPr>
              <a:t>Checkpoints сохраняют позицию исполнения и ожидание подтверждения</a:t>
            </a:r>
          </a:p>
        </p:txBody>
      </p:sp>
    </p:spTree>
    <p:extLst>
      <p:ext uri="{BB962C8B-B14F-4D97-AF65-F5344CB8AC3E}">
        <p14:creationId xmlns:p14="http://schemas.microsoft.com/office/powerpoint/2010/main" val="15487196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FFBAE5-98CB-477D-A46D-5D6B5EF5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Технологии и их роли</a:t>
            </a:r>
          </a:p>
        </p:txBody>
      </p:sp>
      <p:sp>
        <p:nvSpPr>
          <p:cNvPr id="2" name="text-38">
            <a:extLst xmlns:a="http://schemas.openxmlformats.org/drawingml/2006/main">
              <a:ext uri="{FF2B5EF4-FFF2-40B4-BE49-F238E27FC236}">
                <a16:creationId xmlns:a16="http://schemas.microsoft.com/office/drawing/2014/main" id="{1BBFB48A-C2A8-4C95-A6FA-9B2004E6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05 / 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48787-D314-4800-B9A1-916881F377FE}"/>
              </a:ext>
            </a:extLst>
          </p:cNvPr>
          <p:cNvGraphicFramePr/>
          <p:nvPr/>
        </p:nvGraphicFramePr>
        <p:xfrm>
          <a:off xmlns:a="http://schemas.openxmlformats.org/drawingml/2006/main" x="685800" y="1666875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3714750"/>
                <a:gridCol w="5200650"/>
              </a:tblGrid>
              <a:tr h="5715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Слой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T w="5715">
                      <a:solidFill>
                        <a:srgbClr val="CED9D5"/>
                      </a:solidFill>
                      <a:prstDash val="solid"/>
                    </a:lnT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112C35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Технологии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T w="5715">
                      <a:solidFill>
                        <a:srgbClr val="CED9D5"/>
                      </a:solidFill>
                      <a:prstDash val="solid"/>
                    </a:lnT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112C35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Ответственность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T w="5715">
                      <a:solidFill>
                        <a:srgbClr val="CED9D5"/>
                      </a:solidFill>
                      <a:prstDash val="solid"/>
                    </a:lnT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112C35"/>
                    </a:solidFill>
                  </a:tcPr>
                </a:tc>
              </a:tr>
              <a:tr h="5715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Интерфейс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aiogram, HTTPX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Telegram и вызовы backend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API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FastAPI, Pydantic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Контракты и проверка входа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Агент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LangGraph, OpenAI SDK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Состояние, tools и генерация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Поиск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LlamaIndex, Qdrant, BM25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Индексация и retrieval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Хранение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PostgreSQL, Redis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История, checkpoints и доставка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Поставка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Python 3.13, uv, Docker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Окружение и сборка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39">
            <a:extLst xmlns:a="http://schemas.openxmlformats.org/drawingml/2006/main">
              <a:ext uri="{FF2B5EF4-FFF2-40B4-BE49-F238E27FC236}">
                <a16:creationId xmlns:a16="http://schemas.microsoft.com/office/drawing/2014/main" id="{1B9C1605-1909-44F2-A3A1-5224128E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Phoenix tracing и локальный reranker остаются опциональными</a:t>
            </a:r>
          </a:p>
        </p:txBody>
      </p:sp>
    </p:spTree>
    <p:extLst>
      <p:ext uri="{BB962C8B-B14F-4D97-AF65-F5344CB8AC3E}">
        <p14:creationId xmlns:p14="http://schemas.microsoft.com/office/powerpoint/2010/main" val="3925359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8BD546-9049-4429-B213-67412F02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Выбор модели генерации</a:t>
            </a:r>
          </a:p>
        </p:txBody>
      </p:sp>
      <p:sp>
        <p:nvSpPr>
          <p:cNvPr id="2" name="text-40">
            <a:extLst xmlns:a="http://schemas.openxmlformats.org/drawingml/2006/main">
              <a:ext uri="{FF2B5EF4-FFF2-40B4-BE49-F238E27FC236}">
                <a16:creationId xmlns:a16="http://schemas.microsoft.com/office/drawing/2014/main" id="{C1C5FD22-B3AB-4881-A364-0C1978D6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06 / 11</a:t>
            </a:r>
          </a:p>
        </p:txBody>
      </p:sp>
      <p:sp>
        <p:nvSpPr>
          <p:cNvPr id="3" name="text-41">
            <a:extLst xmlns:a="http://schemas.openxmlformats.org/drawingml/2006/main">
              <a:ext uri="{FF2B5EF4-FFF2-40B4-BE49-F238E27FC236}">
                <a16:creationId xmlns:a16="http://schemas.microsoft.com/office/drawing/2014/main" id="{388CA4F5-11F2-42C0-8427-65B347AC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gpt-6-luna  /  Responses  /  medium  /  priority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FCCE4-AC66-4FF5-8841-5626A761DF4C}"/>
              </a:ext>
            </a:extLst>
          </p:cNvPr>
          <p:cNvGraphicFramePr/>
          <p:nvPr/>
        </p:nvGraphicFramePr>
        <p:xfrm>
          <a:off xmlns:a="http://schemas.openxmlformats.org/drawingml/2006/main" x="685800" y="2476500"/>
          <a:ext xmlns:a="http://schemas.openxmlformats.org/drawingml/2006/main" cx="108204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333750"/>
                <a:gridCol w="3390900"/>
              </a:tblGrid>
              <a:tr h="5905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Вариант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T w="5715">
                      <a:solidFill>
                        <a:srgbClr val="CED9D5"/>
                      </a:solidFill>
                      <a:prstDash val="solid"/>
                    </a:lnT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112C35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Средняя полнота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T w="5715">
                      <a:solidFill>
                        <a:srgbClr val="CED9D5"/>
                      </a:solidFill>
                      <a:prstDash val="solid"/>
                    </a:lnT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112C35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Генерация, USD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T w="5715">
                      <a:solidFill>
                        <a:srgbClr val="CED9D5"/>
                      </a:solidFill>
                      <a:prstDash val="solid"/>
                    </a:lnT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112C35"/>
                    </a:solidFill>
                  </a:tcPr>
                </a:tc>
              </a:tr>
              <a:tr h="5905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mini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0,906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0,24594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Luna low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0,875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0,02872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Luna medium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CED9D5"/>
                      </a:solidFill>
                      <a:prstDash val="solid"/>
                    </a:lnL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0,906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343D"/>
                          </a:solidFill>
                          <a:latin typeface="Arial"/>
                          <a:ea typeface="Arial"/>
                          <a:cs typeface="Arial"/>
                        </a:rPr>
                        <a:t>0,04109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CED9D5"/>
                      </a:solidFill>
                      <a:prstDash val="solid"/>
                    </a:lnR>
                    <a:lnB w="5715">
                      <a:solidFill>
                        <a:srgbClr val="CE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42">
            <a:extLst xmlns:a="http://schemas.openxmlformats.org/drawingml/2006/main">
              <a:ext uri="{FF2B5EF4-FFF2-40B4-BE49-F238E27FC236}">
                <a16:creationId xmlns:a16="http://schemas.microsoft.com/office/drawing/2014/main" id="{0BEB7BDA-CFB7-4B8C-8B14-2218443C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Medium сохранил полноту mini при меньшем расходе генерации</a:t>
            </a:r>
          </a:p>
        </p:txBody>
      </p:sp>
      <p:sp>
        <p:nvSpPr>
          <p:cNvPr id="6" name="text-43">
            <a:extLst xmlns:a="http://schemas.openxmlformats.org/drawingml/2006/main">
              <a:ext uri="{FF2B5EF4-FFF2-40B4-BE49-F238E27FC236}">
                <a16:creationId xmlns:a16="http://schemas.microsoft.com/office/drawing/2014/main" id="{2DCBB0A5-4524-41E6-901D-D038ACA0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477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Опыт 15.10.2026: Standard, 48 ответов на вариант; сейчас — Priority</a:t>
            </a:r>
          </a:p>
          <a:p xmlns:a="http://schemas.openxmlformats.org/drawingml/2006/main">
            <a:pPr algn="l">
              <a:defRPr sz="15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Историческая стоимость без embeddings и condense</a:t>
            </a:r>
          </a:p>
        </p:txBody>
      </p:sp>
    </p:spTree>
    <p:extLst>
      <p:ext uri="{BB962C8B-B14F-4D97-AF65-F5344CB8AC3E}">
        <p14:creationId xmlns:p14="http://schemas.microsoft.com/office/powerpoint/2010/main" val="10996229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B4A3D-4C09-4DC4-8F72-F7EC5B75CE94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543925" y="224790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E83"/>
            </a:solidFill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0732DE-3BEF-404E-B894-9FADDFE95D03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781675" y="224790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E83"/>
            </a:solidFill>
            <a:tailEnd type="triangle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34AE72-97FF-4350-A51F-417063F26EF4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19425" y="224790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E83"/>
            </a:solidFill>
            <a:tailEnd type="triangle" w="med" len="med"/>
          </a:ln>
        </p:spPr>
      </p:cxnSp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12B67B-1D80-457D-8703-5034B96A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Поиск и подготовка доказательств</a:t>
            </a:r>
          </a:p>
        </p:txBody>
      </p:sp>
      <p:sp>
        <p:nvSpPr>
          <p:cNvPr id="2" name="text-44">
            <a:extLst xmlns:a="http://schemas.openxmlformats.org/drawingml/2006/main">
              <a:ext uri="{FF2B5EF4-FFF2-40B4-BE49-F238E27FC236}">
                <a16:creationId xmlns:a16="http://schemas.microsoft.com/office/drawing/2014/main" id="{1149399D-2F6D-4EB0-AC6F-AB0763C7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07 / 11</a:t>
            </a:r>
          </a:p>
        </p:txBody>
      </p:sp>
      <p:sp>
        <p:nvSpPr>
          <p:cNvPr id="3" name="architecture-45">
            <a:extLst xmlns:a="http://schemas.openxmlformats.org/drawingml/2006/main">
              <a:ext uri="{FF2B5EF4-FFF2-40B4-BE49-F238E27FC236}">
                <a16:creationId xmlns:a16="http://schemas.microsoft.com/office/drawing/2014/main" id="{B6612AFD-74DD-4763-9B92-FEDF5361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Структура</a:t>
            </a:r>
          </a:p>
        </p:txBody>
      </p:sp>
      <p:sp>
        <p:nvSpPr>
          <p:cNvPr id="4" name="text-46">
            <a:extLst xmlns:a="http://schemas.openxmlformats.org/drawingml/2006/main">
              <a:ext uri="{FF2B5EF4-FFF2-40B4-BE49-F238E27FC236}">
                <a16:creationId xmlns:a16="http://schemas.microsoft.com/office/drawing/2014/main" id="{214B8976-3A4E-40FA-83FD-2755C5A0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Страницы, таблицы</a:t>
            </a:r>
          </a:p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и происхождение</a:t>
            </a:r>
          </a:p>
        </p:txBody>
      </p:sp>
      <p:sp>
        <p:nvSpPr>
          <p:cNvPr id="5" name="architecture-47">
            <a:extLst xmlns:a="http://schemas.openxmlformats.org/drawingml/2006/main">
              <a:ext uri="{FF2B5EF4-FFF2-40B4-BE49-F238E27FC236}">
                <a16:creationId xmlns:a16="http://schemas.microsoft.com/office/drawing/2014/main" id="{873D88A1-D93A-46B1-963C-2A967A02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050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Retrieval</a:t>
            </a:r>
          </a:p>
        </p:txBody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703C36F1-1976-4D40-92FD-94DA1EF8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Dense и BM25</a:t>
            </a:r>
          </a:p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с объединением рангов</a:t>
            </a:r>
          </a:p>
        </p:txBody>
      </p:sp>
      <p:sp>
        <p:nvSpPr>
          <p:cNvPr id="8" name="architecture-49">
            <a:extLst xmlns:a="http://schemas.openxmlformats.org/drawingml/2006/main">
              <a:ext uri="{FF2B5EF4-FFF2-40B4-BE49-F238E27FC236}">
                <a16:creationId xmlns:a16="http://schemas.microsoft.com/office/drawing/2014/main" id="{826B8F2B-1393-4807-8D47-BE7D5E63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050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0" name="text-50">
            <a:extLst xmlns:a="http://schemas.openxmlformats.org/drawingml/2006/main">
              <a:ext uri="{FF2B5EF4-FFF2-40B4-BE49-F238E27FC236}">
                <a16:creationId xmlns:a16="http://schemas.microsoft.com/office/drawing/2014/main" id="{45379BBB-24F9-45DD-AF91-33F948C8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4797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Текст фрагментов</a:t>
            </a:r>
          </a:p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и ограничения</a:t>
            </a:r>
          </a:p>
        </p:txBody>
      </p:sp>
      <p:sp>
        <p:nvSpPr>
          <p:cNvPr id="11" name="architecture-51">
            <a:extLst xmlns:a="http://schemas.openxmlformats.org/drawingml/2006/main">
              <a:ext uri="{FF2B5EF4-FFF2-40B4-BE49-F238E27FC236}">
                <a16:creationId xmlns:a16="http://schemas.microsoft.com/office/drawing/2014/main" id="{F622F75D-50FB-4657-AC34-7571418B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050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E8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Ответ</a:t>
            </a:r>
          </a:p>
        </p:txBody>
      </p:sp>
      <p:sp>
        <p:nvSpPr>
          <p:cNvPr id="13" name="text-52">
            <a:extLst xmlns:a="http://schemas.openxmlformats.org/drawingml/2006/main">
              <a:ext uri="{FF2B5EF4-FFF2-40B4-BE49-F238E27FC236}">
                <a16:creationId xmlns:a16="http://schemas.microsoft.com/office/drawing/2014/main" id="{602DA0FE-9CE6-4CBD-9852-7375A687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4797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Цитаты и доступ</a:t>
            </a:r>
          </a:p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к оригиналу</a:t>
            </a:r>
          </a:p>
        </p:txBody>
      </p:sp>
      <p:sp>
        <p:nvSpPr>
          <p:cNvPr id="14" name="text-53">
            <a:extLst xmlns:a="http://schemas.openxmlformats.org/drawingml/2006/main">
              <a:ext uri="{FF2B5EF4-FFF2-40B4-BE49-F238E27FC236}">
                <a16:creationId xmlns:a16="http://schemas.microsoft.com/office/drawing/2014/main" id="{6CA58071-B5B1-4662-A8FE-40A60075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957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large / 1024d</a:t>
            </a:r>
          </a:p>
        </p:txBody>
      </p:sp>
      <p:sp>
        <p:nvSpPr>
          <p:cNvPr id="15" name="text-54">
            <a:extLst xmlns:a="http://schemas.openxmlformats.org/drawingml/2006/main">
              <a:ext uri="{FF2B5EF4-FFF2-40B4-BE49-F238E27FC236}">
                <a16:creationId xmlns:a16="http://schemas.microsoft.com/office/drawing/2014/main" id="{5DD1C02A-843D-4B71-B635-7664DFC1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Embeddings</a:t>
            </a:r>
          </a:p>
          <a:p xmlns:a="http://schemas.openxmlformats.org/drawingml/2006/main">
            <a: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Cosine</a:t>
            </a:r>
          </a:p>
        </p:txBody>
      </p:sp>
      <p:sp>
        <p:nvSpPr>
          <p:cNvPr id="16" name="text-55">
            <a:extLst xmlns:a="http://schemas.openxmlformats.org/drawingml/2006/main">
              <a:ext uri="{FF2B5EF4-FFF2-40B4-BE49-F238E27FC236}">
                <a16:creationId xmlns:a16="http://schemas.microsoft.com/office/drawing/2014/main" id="{7A9AB7F2-3E18-4FAA-9C47-6F2D0C3D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1957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1024 / 64</a:t>
            </a:r>
          </a:p>
        </p:txBody>
      </p:sp>
      <p:sp>
        <p:nvSpPr>
          <p:cNvPr id="17" name="text-56">
            <a:extLst xmlns:a="http://schemas.openxmlformats.org/drawingml/2006/main">
              <a:ext uri="{FF2B5EF4-FFF2-40B4-BE49-F238E27FC236}">
                <a16:creationId xmlns:a16="http://schemas.microsoft.com/office/drawing/2014/main" id="{38815DFE-30C3-41B7-8AD7-7C2E08F9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62500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Chunk и overlap</a:t>
            </a:r>
          </a:p>
          <a:p xmlns:a="http://schemas.openxmlformats.org/drawingml/2006/main">
            <a: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в токенах</a:t>
            </a:r>
          </a:p>
        </p:txBody>
      </p:sp>
      <p:sp>
        <p:nvSpPr>
          <p:cNvPr id="18" name="text-57">
            <a:extLst xmlns:a="http://schemas.openxmlformats.org/drawingml/2006/main">
              <a:ext uri="{FF2B5EF4-FFF2-40B4-BE49-F238E27FC236}">
                <a16:creationId xmlns:a16="http://schemas.microsoft.com/office/drawing/2014/main" id="{A8CE8630-B319-4879-8459-E30F6286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2195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top-k 10</a:t>
            </a:r>
          </a:p>
        </p:txBody>
      </p:sp>
      <p:sp>
        <p:nvSpPr>
          <p:cNvPr id="19" name="text-58">
            <a:extLst xmlns:a="http://schemas.openxmlformats.org/drawingml/2006/main">
              <a:ext uri="{FF2B5EF4-FFF2-40B4-BE49-F238E27FC236}">
                <a16:creationId xmlns:a16="http://schemas.microsoft.com/office/drawing/2014/main" id="{EC9F9C81-2828-4B37-9C45-E4FCE831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625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Reranker выключен</a:t>
            </a:r>
          </a:p>
        </p:txBody>
      </p:sp>
      <p:sp>
        <p:nvSpPr>
          <p:cNvPr id="20" name="text-59">
            <a:extLst xmlns:a="http://schemas.openxmlformats.org/drawingml/2006/main">
              <a:ext uri="{FF2B5EF4-FFF2-40B4-BE49-F238E27FC236}">
                <a16:creationId xmlns:a16="http://schemas.microsoft.com/office/drawing/2014/main" id="{E0873579-057E-4C99-872F-F70190DF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12 000 + до 6000 символов подготовленного evidence</a:t>
            </a:r>
          </a:p>
        </p:txBody>
      </p:sp>
    </p:spTree>
    <p:extLst>
      <p:ext uri="{BB962C8B-B14F-4D97-AF65-F5344CB8AC3E}">
        <p14:creationId xmlns:p14="http://schemas.microsoft.com/office/powerpoint/2010/main" val="1614990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BB855C-1EFC-4787-BBC7-D9A4F5B3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Один агент и подтверждение действий</a:t>
            </a:r>
          </a:p>
        </p:txBody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C7CF87E4-B060-4D93-A7EA-F6B77028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08 / 11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572750B1-7B62-43C3-B4FC-ED320F16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Общий контекст вопроса и поиска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BC0AE68B-55E6-47AA-8C19-7CFC0C08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85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B47728"/>
                </a:solidFill>
                <a:latin typeface="Arial"/>
                <a:ea typeface="Arial"/>
                <a:cs typeface="Arial"/>
              </a:rPr>
              <a:t>+33,63%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6C3142B2-7566-4AE9-8401-DB4930EE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токенов у multi-agent</a:t>
            </a:r>
          </a:p>
        </p:txBody>
      </p:sp>
      <p:sp>
        <p:nvSpPr>
          <p:cNvPr id="6" name="text-64">
            <a:extLst xmlns:a="http://schemas.openxmlformats.org/drawingml/2006/main">
              <a:ext uri="{FF2B5EF4-FFF2-40B4-BE49-F238E27FC236}">
                <a16:creationId xmlns:a16="http://schemas.microsoft.com/office/drawing/2014/main" id="{903EE881-E92C-443F-A9AB-BDB1B124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485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B4772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B47728"/>
                </a:solidFill>
                <a:latin typeface="Arial"/>
                <a:ea typeface="Arial"/>
                <a:cs typeface="Arial"/>
              </a:rPr>
              <a:t>+77,36%</a:t>
            </a:r>
          </a:p>
        </p:txBody>
      </p:sp>
      <p:sp>
        <p:nvSpPr>
          <p:cNvPr id="7" name="text-65">
            <a:extLst xmlns:a="http://schemas.openxmlformats.org/drawingml/2006/main">
              <a:ext uri="{FF2B5EF4-FFF2-40B4-BE49-F238E27FC236}">
                <a16:creationId xmlns:a16="http://schemas.microsoft.com/office/drawing/2014/main" id="{4466C942-82DF-40FD-8393-C0FB9568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p50 задержки в учебном опыте</a:t>
            </a:r>
          </a:p>
        </p:txBody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6EA03EFB-86CE-42FD-93C0-DA3F9D77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5 вопросов, одна общая mock-KB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E1259401-F0A2-492C-B86E-F9F0A6A8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19250"/>
            <a:ext cx="51720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Контроль внешней отправки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2B48A16B-2B72-4BB5-8C6E-3213369A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62250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text-69">
            <a:extLst xmlns:a="http://schemas.openxmlformats.org/drawingml/2006/main">
              <a:ext uri="{FF2B5EF4-FFF2-40B4-BE49-F238E27FC236}">
                <a16:creationId xmlns:a16="http://schemas.microsoft.com/office/drawing/2014/main" id="{46EBAE47-B2E1-45CC-9A07-AADA88FB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62250"/>
            <a:ext cx="4419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Адресат и полный текст</a:t>
            </a:r>
          </a:p>
        </p:txBody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CA159415-092D-469D-87CA-B1E6F5CA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62375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896BAE46-360A-48B2-902F-0EB307D7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62375"/>
            <a:ext cx="4419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Сохранённый draft и пауза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0E28C1C3-9A0A-44D0-9683-D085A227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62500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text-73">
            <a:extLst xmlns:a="http://schemas.openxmlformats.org/drawingml/2006/main">
              <a:ext uri="{FF2B5EF4-FFF2-40B4-BE49-F238E27FC236}">
                <a16:creationId xmlns:a16="http://schemas.microsoft.com/office/drawing/2014/main" id="{CA9ACE25-77BC-4CD7-85E8-75AEE98A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62500"/>
            <a:ext cx="4419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Подтверждение или отмена</a:t>
            </a:r>
          </a:p>
        </p:txBody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97028BE1-DAA0-4777-B815-69C2B5EA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Согласие связано с владельцем и UUID конкретного черновика</a:t>
            </a:r>
          </a:p>
        </p:txBody>
      </p:sp>
    </p:spTree>
    <p:extLst>
      <p:ext uri="{BB962C8B-B14F-4D97-AF65-F5344CB8AC3E}">
        <p14:creationId xmlns:p14="http://schemas.microsoft.com/office/powerpoint/2010/main" val="18198432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83FEDB-CB1F-4E11-AE86-F7A40EB3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Состояние и обработка сбоев</a:t>
            </a:r>
          </a:p>
        </p:txBody>
      </p:sp>
      <p:sp>
        <p:nvSpPr>
          <p:cNvPr id="2" name="text-75">
            <a:extLst xmlns:a="http://schemas.openxmlformats.org/drawingml/2006/main">
              <a:ext uri="{FF2B5EF4-FFF2-40B4-BE49-F238E27FC236}">
                <a16:creationId xmlns:a16="http://schemas.microsoft.com/office/drawing/2014/main" id="{56BA3934-4B80-4A78-AC7A-BA9D4159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09 / 11</a:t>
            </a:r>
          </a:p>
        </p:txBody>
      </p:sp>
      <p:sp>
        <p:nvSpPr>
          <p:cNvPr id="3" name="text-76">
            <a:extLst xmlns:a="http://schemas.openxmlformats.org/drawingml/2006/main">
              <a:ext uri="{FF2B5EF4-FFF2-40B4-BE49-F238E27FC236}">
                <a16:creationId xmlns:a16="http://schemas.microsoft.com/office/drawing/2014/main" id="{60CB1768-93D2-4EBF-B039-06A7A4B6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476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787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4" name="text-77">
            <a:extLst xmlns:a="http://schemas.openxmlformats.org/drawingml/2006/main">
              <a:ext uri="{FF2B5EF4-FFF2-40B4-BE49-F238E27FC236}">
                <a16:creationId xmlns:a16="http://schemas.microsoft.com/office/drawing/2014/main" id="{4220725E-E55D-4E48-9EA3-EAF5AE82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667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учебных чатов</a:t>
            </a:r>
          </a:p>
          <a:p xmlns:a="http://schemas.openxmlformats.org/drawingml/2006/main">
            <a:pPr algn="l">
              <a:defRPr sz="240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сохранились после рестарта</a:t>
            </a:r>
          </a:p>
        </p:txBody>
      </p:sp>
      <p:sp>
        <p:nvSpPr>
          <p:cNvPr id="5" name="text-78">
            <a:extLst xmlns:a="http://schemas.openxmlformats.org/drawingml/2006/main">
              <a:ext uri="{FF2B5EF4-FFF2-40B4-BE49-F238E27FC236}">
                <a16:creationId xmlns:a16="http://schemas.microsoft.com/office/drawing/2014/main" id="{689A0D9C-6E25-4858-9FA8-CEE1DDD2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Совпали сообщения и хэши истории</a:t>
            </a:r>
          </a:p>
        </p:txBody>
      </p:sp>
      <p:sp>
        <p:nvSpPr>
          <p:cNvPr id="6" name="text-79">
            <a:extLst xmlns:a="http://schemas.openxmlformats.org/drawingml/2006/main">
              <a:ext uri="{FF2B5EF4-FFF2-40B4-BE49-F238E27FC236}">
                <a16:creationId xmlns:a16="http://schemas.microsoft.com/office/drawing/2014/main" id="{9E671C12-C3A1-4D48-9290-2F8CDCB2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14500"/>
            <a:ext cx="5314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Контекст</a:t>
            </a:r>
          </a:p>
        </p:txBody>
      </p:sp>
      <p:sp>
        <p:nvSpPr>
          <p:cNvPr id="7" name="text-80">
            <a:extLst xmlns:a="http://schemas.openxmlformats.org/drawingml/2006/main">
              <a:ext uri="{FF2B5EF4-FFF2-40B4-BE49-F238E27FC236}">
                <a16:creationId xmlns:a16="http://schemas.microsoft.com/office/drawing/2014/main" id="{A5816BE4-6C81-4795-A7C3-E90E85F1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85975"/>
            <a:ext cx="531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История и checkpoints</a:t>
            </a:r>
          </a:p>
        </p:txBody>
      </p:sp>
      <p:sp>
        <p:nvSpPr>
          <p:cNvPr id="8" name="text-81">
            <a:extLst xmlns:a="http://schemas.openxmlformats.org/drawingml/2006/main">
              <a:ext uri="{FF2B5EF4-FFF2-40B4-BE49-F238E27FC236}">
                <a16:creationId xmlns:a16="http://schemas.microsoft.com/office/drawing/2014/main" id="{10B08B69-F464-4FC5-BBD4-56627DD6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5314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Доступ</a:t>
            </a:r>
          </a:p>
        </p:txBody>
      </p:sp>
      <p:sp>
        <p:nvSpPr>
          <p:cNvPr id="9" name="text-82">
            <a:extLst xmlns:a="http://schemas.openxmlformats.org/drawingml/2006/main">
              <a:ext uri="{FF2B5EF4-FFF2-40B4-BE49-F238E27FC236}">
                <a16:creationId xmlns:a16="http://schemas.microsoft.com/office/drawing/2014/main" id="{1E73337F-0E29-4A80-8821-C0E21859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38475"/>
            <a:ext cx="531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Владелец и блокировка чата</a:t>
            </a:r>
          </a:p>
        </p:txBody>
      </p:sp>
      <p:sp>
        <p:nvSpPr>
          <p:cNvPr id="10" name="text-83">
            <a:extLst xmlns:a="http://schemas.openxmlformats.org/drawingml/2006/main">
              <a:ext uri="{FF2B5EF4-FFF2-40B4-BE49-F238E27FC236}">
                <a16:creationId xmlns:a16="http://schemas.microsoft.com/office/drawing/2014/main" id="{450FF99D-F460-4AE5-A27B-C762554A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19500"/>
            <a:ext cx="5314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Deadlines</a:t>
            </a:r>
          </a:p>
        </p:txBody>
      </p:sp>
      <p:sp>
        <p:nvSpPr>
          <p:cNvPr id="11" name="text-84">
            <a:extLst xmlns:a="http://schemas.openxmlformats.org/drawingml/2006/main">
              <a:ext uri="{FF2B5EF4-FFF2-40B4-BE49-F238E27FC236}">
                <a16:creationId xmlns:a16="http://schemas.microsoft.com/office/drawing/2014/main" id="{FE777196-3927-4341-98C5-F8836E8F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90975"/>
            <a:ext cx="531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60 с generation / 90 с turn</a:t>
            </a:r>
          </a:p>
        </p:txBody>
      </p:sp>
      <p:sp>
        <p:nvSpPr>
          <p:cNvPr id="12" name="text-85">
            <a:extLst xmlns:a="http://schemas.openxmlformats.org/drawingml/2006/main">
              <a:ext uri="{FF2B5EF4-FFF2-40B4-BE49-F238E27FC236}">
                <a16:creationId xmlns:a16="http://schemas.microsoft.com/office/drawing/2014/main" id="{A48FB70B-0F44-4D7A-8827-6FF3C8B9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72000"/>
            <a:ext cx="5314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Доставка</a:t>
            </a:r>
          </a:p>
        </p:txBody>
      </p:sp>
      <p:sp>
        <p:nvSpPr>
          <p:cNvPr id="13" name="text-86">
            <a:extLst xmlns:a="http://schemas.openxmlformats.org/drawingml/2006/main">
              <a:ext uri="{FF2B5EF4-FFF2-40B4-BE49-F238E27FC236}">
                <a16:creationId xmlns:a16="http://schemas.microsoft.com/office/drawing/2014/main" id="{12745501-606E-4573-85A8-0FE85D5D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43475"/>
            <a:ext cx="531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43D"/>
                </a:solidFill>
                <a:latin typeface="Arial"/>
                <a:ea typeface="Arial"/>
                <a:cs typeface="Arial"/>
              </a:rPr>
              <a:t>Unknown требует сверки</a:t>
            </a:r>
          </a:p>
        </p:txBody>
      </p:sp>
      <p:sp>
        <p:nvSpPr>
          <p:cNvPr id="14" name="text-87">
            <a:extLst xmlns:a="http://schemas.openxmlformats.org/drawingml/2006/main">
              <a:ext uri="{FF2B5EF4-FFF2-40B4-BE49-F238E27FC236}">
                <a16:creationId xmlns:a16="http://schemas.microsoft.com/office/drawing/2014/main" id="{8868273A-EF1F-4285-B179-931D453D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912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Эксплуатационная граница: один API worker и раздельные транзакции</a:t>
            </a:r>
          </a:p>
        </p:txBody>
      </p:sp>
    </p:spTree>
    <p:extLst>
      <p:ext uri="{BB962C8B-B14F-4D97-AF65-F5344CB8AC3E}">
        <p14:creationId xmlns:p14="http://schemas.microsoft.com/office/powerpoint/2010/main" val="2958295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440E40-343C-42FF-A9CA-F9DD8859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12C3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2C35"/>
                </a:solidFill>
                <a:latin typeface="Arial"/>
                <a:ea typeface="Arial"/>
                <a:cs typeface="Arial"/>
              </a:rPr>
              <a:t>Фактические результаты проверок</a:t>
            </a:r>
          </a:p>
        </p:txBody>
      </p:sp>
      <p:sp>
        <p:nvSpPr>
          <p:cNvPr id="2" name="text-88">
            <a:extLst xmlns:a="http://schemas.openxmlformats.org/drawingml/2006/main">
              <a:ext uri="{FF2B5EF4-FFF2-40B4-BE49-F238E27FC236}">
                <a16:creationId xmlns:a16="http://schemas.microsoft.com/office/drawing/2014/main" id="{BE115C5A-F37A-4F0E-9C23-74BCB402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10 / 11</a:t>
            </a:r>
          </a:p>
        </p:txBody>
      </p:sp>
      <p:sp>
        <p:nvSpPr>
          <p:cNvPr id="3" name="text-89">
            <a:extLst xmlns:a="http://schemas.openxmlformats.org/drawingml/2006/main">
              <a:ext uri="{FF2B5EF4-FFF2-40B4-BE49-F238E27FC236}">
                <a16:creationId xmlns:a16="http://schemas.microsoft.com/office/drawing/2014/main" id="{C48A0575-F801-4803-9FF4-D6B7F0D9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571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34 эталонных ответа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B5888443-8A09-4339-BCBC-AF39BE5CDD58}"/>
              </a:ext>
            </a:extLst>
          </p:cNvPr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5381625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4581014dfa4336"/>
          </a:graphicData>
        </a:graphic>
      </p:graphicFrame>
      <p:sp>
        <p:nvSpPr>
          <p:cNvPr id="5" name="text-90">
            <a:extLst xmlns:a="http://schemas.openxmlformats.org/drawingml/2006/main">
              <a:ext uri="{FF2B5EF4-FFF2-40B4-BE49-F238E27FC236}">
                <a16:creationId xmlns:a16="http://schemas.microsoft.com/office/drawing/2014/main" id="{584AFFC7-45C2-49C2-B699-44CDC04A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571625"/>
            <a:ext cx="472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1522 PASS / 12 skip</a:t>
            </a:r>
          </a:p>
        </p:txBody>
      </p:sp>
      <p:sp>
        <p:nvSpPr>
          <p:cNvPr id="6" name="text-91">
            <a:extLst xmlns:a="http://schemas.openxmlformats.org/drawingml/2006/main">
              <a:ext uri="{FF2B5EF4-FFF2-40B4-BE49-F238E27FC236}">
                <a16:creationId xmlns:a16="http://schemas.microsoft.com/office/drawing/2014/main" id="{C61670A0-F3C8-4AA2-80A1-A58711BD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85975"/>
            <a:ext cx="4724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Offline suite</a:t>
            </a:r>
          </a:p>
        </p:txBody>
      </p:sp>
      <p:sp>
        <p:nvSpPr>
          <p:cNvPr id="7" name="text-92">
            <a:extLst xmlns:a="http://schemas.openxmlformats.org/drawingml/2006/main">
              <a:ext uri="{FF2B5EF4-FFF2-40B4-BE49-F238E27FC236}">
                <a16:creationId xmlns:a16="http://schemas.microsoft.com/office/drawing/2014/main" id="{6257A1B2-210B-4100-AD4E-AA51C32E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71775"/>
            <a:ext cx="472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25 PostgreSQL PASS</a:t>
            </a:r>
          </a:p>
        </p:txBody>
      </p:sp>
      <p:sp>
        <p:nvSpPr>
          <p:cNvPr id="8" name="text-93">
            <a:extLst xmlns:a="http://schemas.openxmlformats.org/drawingml/2006/main">
              <a:ext uri="{FF2B5EF4-FFF2-40B4-BE49-F238E27FC236}">
                <a16:creationId xmlns:a16="http://schemas.microsoft.com/office/drawing/2014/main" id="{14EA151F-274F-4DCF-BDDE-F2BF9692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286125"/>
            <a:ext cx="4724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Отдельная одноразовая БД</a:t>
            </a:r>
          </a:p>
        </p:txBody>
      </p:sp>
      <p:sp>
        <p:nvSpPr>
          <p:cNvPr id="9" name="text-94">
            <a:extLst xmlns:a="http://schemas.openxmlformats.org/drawingml/2006/main">
              <a:ext uri="{FF2B5EF4-FFF2-40B4-BE49-F238E27FC236}">
                <a16:creationId xmlns:a16="http://schemas.microsoft.com/office/drawing/2014/main" id="{58D58B46-B457-4981-85E0-C48DB749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14775"/>
            <a:ext cx="4724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154 использования источников</a:t>
            </a:r>
          </a:p>
        </p:txBody>
      </p:sp>
      <p:sp>
        <p:nvSpPr>
          <p:cNvPr id="10" name="text-95">
            <a:extLst xmlns:a="http://schemas.openxmlformats.org/drawingml/2006/main">
              <a:ext uri="{FF2B5EF4-FFF2-40B4-BE49-F238E27FC236}">
                <a16:creationId xmlns:a16="http://schemas.microsoft.com/office/drawing/2014/main" id="{EC8D6288-05F6-416B-99B4-561191C3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34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43D"/>
                </a:solidFill>
                <a:latin typeface="Arial"/>
                <a:ea typeface="Arial"/>
                <a:cs typeface="Arial"/>
              </a:rPr>
              <a:t>HTTP wall time</a:t>
            </a:r>
          </a:p>
        </p:txBody>
      </p:sp>
      <p:sp>
        <p:nvSpPr>
          <p:cNvPr id="11" name="text-96">
            <a:extLst xmlns:a="http://schemas.openxmlformats.org/drawingml/2006/main">
              <a:ext uri="{FF2B5EF4-FFF2-40B4-BE49-F238E27FC236}">
                <a16:creationId xmlns:a16="http://schemas.microsoft.com/office/drawing/2014/main" id="{B298AD73-F8E7-4F43-9D8B-1C6BAF41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7,63 с</a:t>
            </a:r>
          </a:p>
        </p:txBody>
      </p:sp>
      <p:sp>
        <p:nvSpPr>
          <p:cNvPr id="12" name="text-97">
            <a:extLst xmlns:a="http://schemas.openxmlformats.org/drawingml/2006/main">
              <a:ext uri="{FF2B5EF4-FFF2-40B4-BE49-F238E27FC236}">
                <a16:creationId xmlns:a16="http://schemas.microsoft.com/office/drawing/2014/main" id="{2FF17775-2188-4C5B-8BBD-BF94F3C2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149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медиана</a:t>
            </a:r>
          </a:p>
        </p:txBody>
      </p:sp>
      <p:sp>
        <p:nvSpPr>
          <p:cNvPr id="13" name="text-98">
            <a:extLst xmlns:a="http://schemas.openxmlformats.org/drawingml/2006/main">
              <a:ext uri="{FF2B5EF4-FFF2-40B4-BE49-F238E27FC236}">
                <a16:creationId xmlns:a16="http://schemas.microsoft.com/office/drawing/2014/main" id="{35978B3B-6F35-4F4D-B2B1-D3414655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81625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87E8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87E83"/>
                </a:solidFill>
                <a:latin typeface="Arial"/>
                <a:ea typeface="Arial"/>
                <a:cs typeface="Arial"/>
              </a:rPr>
              <a:t>14,27 с</a:t>
            </a:r>
          </a:p>
        </p:txBody>
      </p:sp>
      <p:sp>
        <p:nvSpPr>
          <p:cNvPr id="14" name="text-99">
            <a:extLst xmlns:a="http://schemas.openxmlformats.org/drawingml/2006/main">
              <a:ext uri="{FF2B5EF4-FFF2-40B4-BE49-F238E27FC236}">
                <a16:creationId xmlns:a16="http://schemas.microsoft.com/office/drawing/2014/main" id="{A3F37F35-9B70-4FFB-9FEE-E18D4F41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514975"/>
            <a:ext cx="1666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p95</a:t>
            </a:r>
          </a:p>
        </p:txBody>
      </p:sp>
      <p:sp>
        <p:nvSpPr>
          <p:cNvPr id="15" name="text-100">
            <a:extLst xmlns:a="http://schemas.openxmlformats.org/drawingml/2006/main">
              <a:ext uri="{FF2B5EF4-FFF2-40B4-BE49-F238E27FC236}">
                <a16:creationId xmlns:a16="http://schemas.microsoft.com/office/drawing/2014/main" id="{EAFCBD8C-EE3F-420A-ABAD-49ADD35C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43 сценария + 5 расширений до исправления уточнения. Затем: offline и focused regression.</a:t>
            </a:r>
          </a:p>
          <a:p xmlns:a="http://schemas.openxmlformats.org/drawingml/2006/main">
            <a:pPr algn="l">
              <a:defRPr sz="1425" b="0">
                <a:solidFill>
                  <a:srgbClr val="526B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B71"/>
                </a:solidFill>
                <a:latin typeface="Arial"/>
                <a:ea typeface="Arial"/>
                <a:cs typeface="Arial"/>
              </a:rPr>
              <a:t>HTTP-замер не измеряет доставку Telegram и не подтверждает SLA.</a:t>
            </a:r>
          </a:p>
        </p:txBody>
      </p:sp>
    </p:spTree>
    <p:extLst>
      <p:ext uri="{BB962C8B-B14F-4D97-AF65-F5344CB8AC3E}">
        <p14:creationId xmlns:p14="http://schemas.microsoft.com/office/powerpoint/2010/main" val="4961020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2F93F6-CE53-438A-AB2C-D3AE424C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Итог и границы применения</a:t>
            </a:r>
          </a:p>
        </p:txBody>
      </p:sp>
      <p:sp>
        <p:nvSpPr>
          <p:cNvPr id="2" name="text-101">
            <a:extLst xmlns:a="http://schemas.openxmlformats.org/drawingml/2006/main">
              <a:ext uri="{FF2B5EF4-FFF2-40B4-BE49-F238E27FC236}">
                <a16:creationId xmlns:a16="http://schemas.microsoft.com/office/drawing/2014/main" id="{96D4A8C1-82CE-4847-A9FC-0433E6FB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293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B6D1C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1C5"/>
                </a:solidFill>
                <a:latin typeface="Arial"/>
                <a:ea typeface="Arial"/>
                <a:cs typeface="Arial"/>
              </a:rPr>
              <a:t>11 / 11</a:t>
            </a:r>
          </a:p>
        </p:txBody>
      </p:sp>
      <p:sp>
        <p:nvSpPr>
          <p:cNvPr id="3" name="text-102">
            <a:extLst xmlns:a="http://schemas.openxmlformats.org/drawingml/2006/main">
              <a:ext uri="{FF2B5EF4-FFF2-40B4-BE49-F238E27FC236}">
                <a16:creationId xmlns:a16="http://schemas.microsoft.com/office/drawing/2014/main" id="{D7FE0564-CCB3-4A69-B371-88C75D50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668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Рабочий помощник инженера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 проверяемыми источниками</a:t>
            </a:r>
          </a:p>
        </p:txBody>
      </p:sp>
      <p:sp>
        <p:nvSpPr>
          <p:cNvPr id="4" name="text-103">
            <a:extLst xmlns:a="http://schemas.openxmlformats.org/drawingml/2006/main">
              <a:ext uri="{FF2B5EF4-FFF2-40B4-BE49-F238E27FC236}">
                <a16:creationId xmlns:a16="http://schemas.microsoft.com/office/drawing/2014/main" id="{1F4D8F73-7215-4A3E-8A05-49625F76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B6D1C5"/>
                </a:solidFill>
                <a:latin typeface="Arial"/>
                <a:ea typeface="Arial"/>
                <a:cs typeface="Arial"/>
              </a:rPr>
              <a:t>Ограничения принятой версии</a:t>
            </a:r>
          </a:p>
        </p:txBody>
      </p:sp>
      <p:sp>
        <p:nvSpPr>
          <p:cNvPr id="5" name="text-104">
            <a:extLst xmlns:a="http://schemas.openxmlformats.org/drawingml/2006/main">
              <a:ext uri="{FF2B5EF4-FFF2-40B4-BE49-F238E27FC236}">
                <a16:creationId xmlns:a16="http://schemas.microsoft.com/office/drawing/2014/main" id="{E51E9748-374B-4872-ACC3-8BCBD4C2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105727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Частичные ответы по DOF и Mohr–Coulomb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Формулы и изображения требуют доизвлечения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Research gate и SLA остаются открытыми</a:t>
            </a:r>
          </a:p>
        </p:txBody>
      </p:sp>
      <p:sp>
        <p:nvSpPr>
          <p:cNvPr id="6" name="text-105">
            <a:extLst xmlns:a="http://schemas.openxmlformats.org/drawingml/2006/main">
              <a:ext uri="{FF2B5EF4-FFF2-40B4-BE49-F238E27FC236}">
                <a16:creationId xmlns:a16="http://schemas.microsoft.com/office/drawing/2014/main" id="{DE1F1379-21FC-4DCA-A4C7-8E375287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B6D1C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6D1C5"/>
                </a:solidFill>
                <a:latin typeface="Arial"/>
                <a:ea typeface="Arial"/>
                <a:cs typeface="Arial"/>
              </a:rPr>
              <a:t>Пользователь проверил Telegram и принял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14306979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2026-10-21T15:09:30.2200000Z</dcterms:created>
  <dcterms:modified xsi:type="dcterms:W3CDTF">2026-10-21T15:09:30.2200000Z</dcterms:modified>
</coreProperties>
</file>