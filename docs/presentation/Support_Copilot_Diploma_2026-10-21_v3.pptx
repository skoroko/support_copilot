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fa1e2b7d294df9" /><Relationship Type="http://schemas.openxmlformats.org/officeDocument/2006/relationships/extended-properties" Target="/docProps/app.xml" Id="R21050983621e4a08" /><Relationship Type="http://schemas.openxmlformats.org/officeDocument/2006/relationships/officeDocument" Target="/ppt/presentation.xml" Id="R4d9b4e68cfe1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5272836854044"/>
  </p:sldMasterIdLst>
  <p:notesMasterIdLst>
    <p:notesMasterId xmlns:r="http://schemas.openxmlformats.org/officeDocument/2006/relationships" r:id="R09b47bf35bfa4544"/>
  </p:notesMasterIdLst>
  <p:sldIdLst>
    <p:sldId xmlns:r="http://schemas.openxmlformats.org/officeDocument/2006/relationships" id="256" r:id="R2919c9af8f1c4bfd"/>
    <p:sldId xmlns:r="http://schemas.openxmlformats.org/officeDocument/2006/relationships" id="257" r:id="R9dc9e68016634bcb"/>
    <p:sldId xmlns:r="http://schemas.openxmlformats.org/officeDocument/2006/relationships" id="258" r:id="R6f127e0d2a6f49c4"/>
    <p:sldId xmlns:r="http://schemas.openxmlformats.org/officeDocument/2006/relationships" id="259" r:id="R6a9fe70e7d734c90"/>
    <p:sldId xmlns:r="http://schemas.openxmlformats.org/officeDocument/2006/relationships" id="260" r:id="R51f853dd8ed84fa0"/>
    <p:sldId xmlns:r="http://schemas.openxmlformats.org/officeDocument/2006/relationships" id="261" r:id="R804bad8ecff24fd5"/>
    <p:sldId xmlns:r="http://schemas.openxmlformats.org/officeDocument/2006/relationships" id="262" r:id="R2bf22d31a2934c56"/>
    <p:sldId xmlns:r="http://schemas.openxmlformats.org/officeDocument/2006/relationships" id="263" r:id="R83d7d249de5a48cb"/>
    <p:sldId xmlns:r="http://schemas.openxmlformats.org/officeDocument/2006/relationships" id="264" r:id="R7364fa3fe10d4ce0"/>
    <p:sldId xmlns:r="http://schemas.openxmlformats.org/officeDocument/2006/relationships" id="265" r:id="Rcb426fb9c4e64f7e"/>
    <p:sldId xmlns:r="http://schemas.openxmlformats.org/officeDocument/2006/relationships" id="266" r:id="R7b3b127df4124a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e2357386584cbf" /><Relationship Type="http://schemas.openxmlformats.org/officeDocument/2006/relationships/slideMaster" Target="/ppt/slideMasters/slideMaster1.xml" Id="Re305272836854044" /><Relationship Type="http://schemas.openxmlformats.org/officeDocument/2006/relationships/notesMaster" Target="/ppt/notesMasters/notesMaster1.xml" Id="R09b47bf35bfa4544" /><Relationship Type="http://schemas.openxmlformats.org/officeDocument/2006/relationships/presProps" Target="/ppt/presProps.xml" Id="Rcb71bf6d45924665" /><Relationship Type="http://schemas.openxmlformats.org/officeDocument/2006/relationships/tableStyles" Target="/ppt/tableStyles.xml" Id="R4cbea62a386e4b52" /><Relationship Type="http://schemas.openxmlformats.org/officeDocument/2006/relationships/slide" Target="/ppt/slides/slide1.xml" Id="R2919c9af8f1c4bfd" /><Relationship Type="http://schemas.openxmlformats.org/officeDocument/2006/relationships/slide" Target="/ppt/slides/slide2.xml" Id="R9dc9e68016634bcb" /><Relationship Type="http://schemas.openxmlformats.org/officeDocument/2006/relationships/slide" Target="/ppt/slides/slide3.xml" Id="R6f127e0d2a6f49c4" /><Relationship Type="http://schemas.openxmlformats.org/officeDocument/2006/relationships/slide" Target="/ppt/slides/slide4.xml" Id="R6a9fe70e7d734c90" /><Relationship Type="http://schemas.openxmlformats.org/officeDocument/2006/relationships/slide" Target="/ppt/slides/slide5.xml" Id="R51f853dd8ed84fa0" /><Relationship Type="http://schemas.openxmlformats.org/officeDocument/2006/relationships/slide" Target="/ppt/slides/slide6.xml" Id="R804bad8ecff24fd5" /><Relationship Type="http://schemas.openxmlformats.org/officeDocument/2006/relationships/slide" Target="/ppt/slides/slide7.xml" Id="R2bf22d31a2934c56" /><Relationship Type="http://schemas.openxmlformats.org/officeDocument/2006/relationships/slide" Target="/ppt/slides/slide8.xml" Id="R83d7d249de5a48cb" /><Relationship Type="http://schemas.openxmlformats.org/officeDocument/2006/relationships/slide" Target="/ppt/slides/slide9.xml" Id="R7364fa3fe10d4ce0" /><Relationship Type="http://schemas.openxmlformats.org/officeDocument/2006/relationships/slide" Target="/ppt/slides/slide10.xml" Id="Rcb426fb9c4e64f7e" /><Relationship Type="http://schemas.openxmlformats.org/officeDocument/2006/relationships/slide" Target="/ppt/slides/slide11.xml" Id="R7b3b127df412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6fa8fa529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e0fcbe16f44310" /><Relationship Type="http://schemas.openxmlformats.org/officeDocument/2006/relationships/notesMaster" Target="/ppt/notesMasters/notesMaster1.xml" Id="Red84d3e4aa984a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168c11be14f63" /><Relationship Type="http://schemas.openxmlformats.org/officeDocument/2006/relationships/notesMaster" Target="/ppt/notesMasters/notesMaster1.xml" Id="R85b656114a1c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66b3e8bb5f491c" /><Relationship Type="http://schemas.openxmlformats.org/officeDocument/2006/relationships/notesMaster" Target="/ppt/notesMasters/notesMaster1.xml" Id="Re74c3d76390245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ce21639cc346fb" /><Relationship Type="http://schemas.openxmlformats.org/officeDocument/2006/relationships/notesMaster" Target="/ppt/notesMasters/notesMaster1.xml" Id="R3774d84ecc324c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c9221eae6642e3" /><Relationship Type="http://schemas.openxmlformats.org/officeDocument/2006/relationships/notesMaster" Target="/ppt/notesMasters/notesMaster1.xml" Id="R954b74f8f5ae49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109fc9cb254cf7" /><Relationship Type="http://schemas.openxmlformats.org/officeDocument/2006/relationships/notesMaster" Target="/ppt/notesMasters/notesMaster1.xml" Id="Rab7e4abdb2aa4c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2b730e342425b" /><Relationship Type="http://schemas.openxmlformats.org/officeDocument/2006/relationships/notesMaster" Target="/ppt/notesMasters/notesMaster1.xml" Id="R8885c119e92441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6157aecfe74c47" /><Relationship Type="http://schemas.openxmlformats.org/officeDocument/2006/relationships/notesMaster" Target="/ppt/notesMasters/notesMaster1.xml" Id="Rec12d5cf28aa41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8babfc809a43fe" /><Relationship Type="http://schemas.openxmlformats.org/officeDocument/2006/relationships/notesMaster" Target="/ppt/notesMasters/notesMaster1.xml" Id="R9eafa81e8b2644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d60e4adf26444c" /><Relationship Type="http://schemas.openxmlformats.org/officeDocument/2006/relationships/notesMaster" Target="/ppt/notesMasters/notesMaster1.xml" Id="Rf584976b266d45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9cd3e8c723471c" /><Relationship Type="http://schemas.openxmlformats.org/officeDocument/2006/relationships/notesMaster" Target="/ppt/notesMasters/notesMaster1.xml" Id="Rec9f8f7d3e31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разработал Support Copilot для инженеров технической поддержки MIDAS. Он помогает найти сведения в руководствах GTS NX и Civil, объяснить их в контексте вопроса и подготовить ответ с источниками. В основе решения один агент с поиском по документации и подтверждением внешних действий. Дальше покажу, почему выбраны именно эта архитектура, модель и способ поиска. Срез измерений относится к 21 октября 2026 года.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docs/final_technical_documentation.md</a:t>
            </a:r>
          </a:p>
          <a:p xmlns:a="http://schemas.openxmlformats.org/drawingml/2006/main">
            <a:r>
              <a:t>- docs/final_acceptance.md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Обложка: концептуальная иллюстрация ImageGen от 21.10.2026. Не является реальным расчётом или интерфейсом.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Пользователь системы — инженер поддержки MIDAS. Он получает конкретный технический вопрос, ищет объяснение в объёмных руководствах и готовит ответ пользователю. Предметная область подходит для проекта, потому что техническое утверждение можно сверить с официальным источником и физической страницей либо CHM topic. Мы объединили поиск, продолжение диалога и подготовку черновика в Telegram. Чат работает как тонкий интерфейс к backend. Инженер проверяет ответ и принимает решение. Экономия рабочего времени пока отдельно не измерена.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docs/final_technical_documentation.md</a:t>
            </a:r>
          </a:p>
          <a:p xmlns:a="http://schemas.openxmlformats.org/drawingml/2006/main">
            <a:r>
              <a:t>- docs/telegram_bot.md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Поиск по ключевым словам хорошо работает с точными названиями и обозначениями. Поэтому BM25 сохранён в системе. Но вопрос инженера часто требует связать несколько фрагментов, учесть продолжение диалога и сформулировать объяснение. Эти задачи мы поручили модели. Альтернатива — FAQ с заранее подготовленными ответами — подходит для повторяющихся вопросов, но ограничивает свободный технический диалог. RAG даёт модели текст найденных источников и сохраняет возможность проверки ответа. Утверждать измеренное превосходство над отдельной FAQ-системой мы не можем: такого A/B не было.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docs/architecture_patterns.md</a:t>
            </a:r>
          </a:p>
          <a:p xmlns:a="http://schemas.openxmlformats.org/drawingml/2006/main">
            <a:r>
              <a:t>- docs/final_technical_documentation.md</a:t>
            </a:r>
          </a:p>
          <a:p xmlns:a="http://schemas.openxmlformats.org/drawingml/2006/main">
            <a:r>
              <a:t>- app/services/rag.py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выбрали официальные руководства GTS NX и Civil, потому что они описывают реальные возможности продуктов и дают проверяемый источник технических фактов. В корпусе десять канонических источников: девять PDF и один CHM, 1936 страниц или topics, 1934 из них с извлечённым текстом. Индекс содержит 14139 векторов. Это разные единицы учёта. Шестьдесят производных HTML-зеркал исключены, чтобы не считать копии отдельными руководствами. Внутренний FAQ, инструкции установки и лицензирования отложены до следующей версии. Синтетические учебные документы в основной поиск не включались.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docs/data_inventory.md</a:t>
            </a:r>
          </a:p>
          <a:p xmlns:a="http://schemas.openxmlformats.org/drawingml/2006/main">
            <a:r>
              <a:t>- docs/evidence/diploma_2026-10-21/post_restart_index_audit.json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Запрос приходит из Telegram через aiogram и HTTPX в FastAPI. ChatService проверяет доступ и сохраняет сообщения. LangGraph поддерживает одного агента, который получает документы от RAGService и вызывает модель через OpenAI SDK. LlamaIndex отвечает за ingestion и nodes, Qdrant и BM25 — за поиск. PostgreSQL хранит историю диалога и отдельно checkpoints графа. Redis используется для кеша общего API и защиты от повторной доставки. Такой backend отделяет сценарий от Telegram и позволяет проверять его контрактными тестами. Альтернатива — всё внутри обработчика бота — сильнее связывает интерфейс, хранение и модель. Docker и uv фиксируют воспроизводимый запуск на Python 3.13.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docs/architecture_patterns.md</a:t>
            </a:r>
          </a:p>
          <a:p xmlns:a="http://schemas.openxmlformats.org/drawingml/2006/main">
            <a:r>
              <a:t>- docs/technology_stack.md</a:t>
            </a:r>
          </a:p>
          <a:p xmlns:a="http://schemas.openxmlformats.org/drawingml/2006/main">
            <a:r>
              <a:t>- docs/final_agent_graph.md</a:t>
            </a:r>
          </a:p>
          <a:p xmlns:a="http://schemas.openxmlformats.org/drawingml/2006/main">
            <a:r>
              <a:t>- app/chat/service.py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Выбрана облачная gpt-6-luna с reasoning medium. Облако позволяет работать без локального LLM-сервера. Локальный вариант требовал бы отдельной проверки качества и скорости на имеющемся оборудовании: 31.8 гигабайта RAM и 4 гигабайта VRAM. Сравнения local и Luna на финальном корпусе мы не заявляем. В опыте 15 октября medium сохранил среднюю полноту mini 0.906, low получил 0.875. Fixed-часть содержит 48 ответов на вариант с одинаковыми фрагментами в Standard. Расчётная генерация: mini 0.24594 доллара, low 0.02872, medium 0.04109. Mini был быстрее. Это небольшой набор, один модельный оценщик, исторические тарифы и стоимость без embeddings и condense. Нынешний профиль использует Priority, его эффект отдельно не изолирован. Историческая краткая цель была 500 токенов, нынешняя — 800, расширенная — 1500. Это видимые цели, общий cap дополнен reasoning reserve 8192.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docs/luna_runtime_evaluation.md</a:t>
            </a:r>
          </a:p>
          <a:p xmlns:a="http://schemas.openxmlformats.org/drawingml/2006/main">
            <a:r>
              <a:t>- docs/final_technical_documentation.md</a:t>
            </a:r>
          </a:p>
          <a:p xmlns:a="http://schemas.openxmlformats.org/drawingml/2006/main">
            <a:r>
              <a:t>- docs/evidence/diploma_2026-10-21/post_restart_runtime_manifest.json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Векторное хранилище — Qdrant: его интеграция и фильтры metadata уже проверены в проекте. Альтернатива pgvector потребовала бы отдельного backend без выявленной необходимости. Embeddings — text-embedding-3-large с 1024 измерениями: сокращённая размерность уменьшает объём векторов. Победу над small на финальном корпусе мы не заявляем. Recursive-разбиение использует 1024 токена и перекрытие 64. В историческом A/B 12 сентября на 34 вопросах переход с 512 на 1024 повысил faithfulness с 0.8641 до 0.8724 и precision с 0.8529 до 0.8663, но снизил recall с 0.9559 до 0.9461. Это компромисс, а не рост всех метрик. Dense-поиск и BM25 объединяются через RRF. Top-k 10, reranker выключен. Модель получает до 12000 символов подготовленного текста и до 6000 символов дополнений. Эти пределы измеряются в символах, не токенах.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docs/final_technical_documentation.md</a:t>
            </a:r>
          </a:p>
          <a:p xmlns:a="http://schemas.openxmlformats.org/drawingml/2006/main">
            <a:r>
              <a:t>- docs/chunking_experiment.md</a:t>
            </a:r>
          </a:p>
          <a:p xmlns:a="http://schemas.openxmlformats.org/drawingml/2006/main">
            <a:r>
              <a:t>- docs/rag_evaluation.md</a:t>
            </a:r>
          </a:p>
          <a:p xmlns:a="http://schemas.openxmlformats.org/drawingml/2006/main">
            <a:r>
              <a:t>- app/services/ingestion.py</a:t>
            </a:r>
          </a:p>
          <a:p xmlns:a="http://schemas.openxmlformats.org/drawingml/2006/main">
            <a:r>
              <a:t>- app/services/rag.py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выбрали одного агента с общим контекстом вопроса и поиска. Альтернатива — supervisor, researcher и writer — на пяти одинаковых mock-KB вопросах дала на 33.63 процента больше токенов и на 77.36 процента большую медианную задержку. Малый учебный опыт не доказывает универсального превосходства, но не даёт оснований усложнять этот сценарий. Три инструмента имеют отдельное назначение: search_knowledge_base даёт факты, get_current_time — текущую дату по запросу, send_telegram_message выполняет явное поручение. Перед отправкой граф сохраняет точного адресата, полный текст и UUID черновика, затем ждёт подтверждения владельца. Отмена завершает ход без доставки. Немедленная отправка по одному решению модели отвергнута, потому что ошибка затронет внешнего получателя.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docs/multi-agent-report.md</a:t>
            </a:r>
          </a:p>
          <a:p xmlns:a="http://schemas.openxmlformats.org/drawingml/2006/main">
            <a:r>
              <a:t>- docs/final_agent_graph.md</a:t>
            </a:r>
          </a:p>
          <a:p xmlns:a="http://schemas.openxmlformats.org/drawingml/2006/main">
            <a:r>
              <a:t>- docs/unified_agent.md</a:t>
            </a:r>
          </a:p>
          <a:p xmlns:a="http://schemas.openxmlformats.org/drawingml/2006/main">
            <a:r>
              <a:t>- app/services/agent_persistent.py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финальном агенте нет цепочки переключения OpenAI на Ollama. Временные ошибки обрабатываются предусмотренными повторами SDK и ограничены общим временем. На уровне генерации предел 60 секунд, на ход графа — 90. После исчерпания возможности выполнения интерфейс показывает понятный сбой, незавершённый ход не считается полезным ответом. При пустой базе и недоступном поиске ответы различаются: отсутствие доказательств нельзя подменять выдуманным фактом. После рестарта PostgreSQL позволяет восстановить историю и состояние ожидания. В проверке у 40 изолированных учебных чатов совпали количество сообщений и хэши историй. Если исход внешней доставки неизвестен, автоматический повтор отключён до сверки. Общую exactly-once гарантию между историей, графом и Telegram не заявляем. Текущая конфигурация предполагает один API worker и отдельные транзакции.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app/services/runtime_model.py</a:t>
            </a:r>
          </a:p>
          <a:p xmlns:a="http://schemas.openxmlformats.org/drawingml/2006/main">
            <a:r>
              <a:t>- app/chat/agent.py</a:t>
            </a:r>
          </a:p>
          <a:p xmlns:a="http://schemas.openxmlformats.org/drawingml/2006/main">
            <a:r>
              <a:t>- app/chat/service.py</a:t>
            </a:r>
          </a:p>
          <a:p xmlns:a="http://schemas.openxmlformats.org/drawingml/2006/main">
            <a:r>
              <a:t>- bot/handlers/_common.py</a:t>
            </a:r>
          </a:p>
          <a:p xmlns:a="http://schemas.openxmlformats.org/drawingml/2006/main">
            <a:r>
              <a:t>- docs/final_acceptance.md</a:t>
            </a:r>
          </a:p>
          <a:p xmlns:a="http://schemas.openxmlformats.org/drawingml/2006/main">
            <a:r>
              <a:t>- docs/unified_agent.md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Решение проверили на сохранённом наборе технических вопросов. Из 34 эталонных ответов 27 полные и семь частичные, нулевых оценок нет. Средний rubric score 0.897 не является accuracy. Отдельно проверили 154 использования источников: 143 автоматически и 11 вручную по оригиналам. Эта проверка подтверждает источники, но не полноту каждого ответа. Offline suite: 1522 passed, 12 skipped. Одиннадцать PostgreSQL skips покрыты отдельным контрактным прогоном на одноразовой БД, 25 passed. Один Windows symlink skip остался. Это проверка контрактов, а не качества модели. 43 сценария и пять расширений собраны до узкого исправления уточнения, после него прошли offline suite и адресная live-проверка. Пользователь затем проверил Telegram и принял результат. HTTP-медиана 7.63 секунды и p95 14.27 не измеряют доставку Telegram и не подтверждают SLA. Применимость ограничена помощью инженеру с проверкой фактов.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docs/final_acceptance.md</a:t>
            </a:r>
          </a:p>
          <a:p xmlns:a="http://schemas.openxmlformats.org/drawingml/2006/main">
            <a:r>
              <a:t>- docs/evidence/diploma_2026-10-21/semantic_review.json</a:t>
            </a:r>
          </a:p>
          <a:p xmlns:a="http://schemas.openxmlformats.org/drawingml/2006/main">
            <a:r>
              <a:t>- docs/evidence/diploma_2026-10-21/source_audit.json</a:t>
            </a:r>
          </a:p>
          <a:p xmlns:a="http://schemas.openxmlformats.org/drawingml/2006/main">
            <a:r>
              <a:t>- docs/evidence/diploma_2026-10-21/manual_source_review.json</a:t>
            </a:r>
          </a:p>
          <a:p xmlns:a="http://schemas.openxmlformats.org/drawingml/2006/main">
            <a:r>
              <a:t>- docs/evidence/diploma_2026-10-21/test_summary.json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Основное ограничение — неполный технический ответ даже при верной ссылке. На проверке остались частичные ответы по DOF и Mohr–Coulomb. В корпусе есть пробелы, часть формул и изображений ещё требует проверенного извлечения. Поэтому систему применяем как помощника инженера, который проверяет ответ. После сдачи дополним источники и повторим независимую оценку на новых вопросах. Полный research gate S0-005 и доставка всех ответов за 10–15 секунд остаются незакрытыми. Все 34 домашних задания учтены в матрице, а согласованные пропуски опытов ДЗ 1–4 сохранены. Результат диплома — работающий Telegram-ассистент с поиском, источниками, состоянием и подтверждением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- docs/final_acceptance.md</a:t>
            </a:r>
          </a:p>
          <a:p xmlns:a="http://schemas.openxmlformats.org/drawingml/2006/main">
            <a:r>
              <a:t>- docs/data_inventory.md</a:t>
            </a:r>
          </a:p>
          <a:p xmlns:a="http://schemas.openxmlformats.org/drawingml/2006/main">
            <a:r>
              <a:t>- docs/homework_coverage.md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5d5106d0245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c9fb1ee474c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67da425d642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a1bb502724a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dd552ba384f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3ca34e7664d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F33063-4530-49D6-A932-0739CD21E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BCB5F8-9222-47D6-B604-E77BFA1B02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C633DF-7CA8-4641-A122-E1ADCA3E9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B11EF5-C404-4EBB-9C91-95C5D9978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D4D0C4-87B1-41CC-9707-608573C14E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446974-335C-4F1C-88A1-E02C1E4CE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2DEC14-3F6E-4235-BA1B-8AEA80F043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CB33C9-D4BF-4447-825F-F5B6341DB1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A29ACA-C3C9-402C-B11E-AD2B430539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C8BD8A-B9FE-4DE5-9EFD-AC57F818F0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d535a3cf04150" /><Relationship Type="http://schemas.openxmlformats.org/officeDocument/2006/relationships/slideLayout" Target="/ppt/slideLayouts/slideLayout1.xml" Id="Rbaf76df33aa348bd" /><Relationship Type="http://schemas.openxmlformats.org/officeDocument/2006/relationships/slideLayout" Target="/ppt/slideLayouts/slideLayout2.xml" Id="R166c57c732574b17" /><Relationship Type="http://schemas.openxmlformats.org/officeDocument/2006/relationships/slideLayout" Target="/ppt/slideLayouts/slideLayout3.xml" Id="Rcccce5dc75974392" /><Relationship Type="http://schemas.openxmlformats.org/officeDocument/2006/relationships/slideLayout" Target="/ppt/slideLayouts/slideLayout4.xml" Id="Rff15bb35abfb4071" /><Relationship Type="http://schemas.openxmlformats.org/officeDocument/2006/relationships/slideLayout" Target="/ppt/slideLayouts/slideLayout5.xml" Id="R648cf3fa41bf4719" /><Relationship Type="http://schemas.openxmlformats.org/officeDocument/2006/relationships/slideLayout" Target="/ppt/slideLayouts/slideLayout6.xml" Id="Ra91c38cab85547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76df33aa348bd"/>
    <p:sldLayoutId xmlns:r="http://schemas.openxmlformats.org/officeDocument/2006/relationships" id="2147483650" r:id="R166c57c732574b17"/>
    <p:sldLayoutId xmlns:r="http://schemas.openxmlformats.org/officeDocument/2006/relationships" id="2147483651" r:id="Rcccce5dc75974392"/>
    <p:sldLayoutId xmlns:r="http://schemas.openxmlformats.org/officeDocument/2006/relationships" id="2147483652" r:id="Rff15bb35abfb4071"/>
    <p:sldLayoutId xmlns:r="http://schemas.openxmlformats.org/officeDocument/2006/relationships" id="2147483653" r:id="R648cf3fa41bf4719"/>
    <p:sldLayoutId xmlns:r="http://schemas.openxmlformats.org/officeDocument/2006/relationships" id="2147483654" r:id="Ra91c38cab85547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b689a7b134ae9" /><Relationship Type="http://schemas.openxmlformats.org/officeDocument/2006/relationships/image" Target="/ppt/media/image.png" Id="R80b92ea99cfe41b9" /><Relationship Type="http://schemas.openxmlformats.org/officeDocument/2006/relationships/notesSlide" Target="/ppt/notesSlides/notesSlide1.xml" Id="R9ded2ff37c7b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d6a7676274161" /><Relationship Type="http://schemas.openxmlformats.org/officeDocument/2006/relationships/notesSlide" Target="/ppt/notesSlides/notesSlide2.xml" Id="Rc6f8849886cc40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9936b1db245b1" /><Relationship Type="http://schemas.openxmlformats.org/officeDocument/2006/relationships/notesSlide" Target="/ppt/notesSlides/notesSlide3.xml" Id="Rc3d110c2144a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fc17c14bd495c" /><Relationship Type="http://schemas.openxmlformats.org/officeDocument/2006/relationships/notesSlide" Target="/ppt/notesSlides/notesSlide4.xml" Id="R14acd6ae0b624f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a179bad9d4568" /><Relationship Type="http://schemas.openxmlformats.org/officeDocument/2006/relationships/notesSlide" Target="/ppt/notesSlides/notesSlide5.xml" Id="R52c60418a5e04b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e8d1c48d74b34" /><Relationship Type="http://schemas.openxmlformats.org/officeDocument/2006/relationships/notesSlide" Target="/ppt/notesSlides/notesSlide6.xml" Id="R72f550e7ef2240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76b898a6f4f8e" /><Relationship Type="http://schemas.openxmlformats.org/officeDocument/2006/relationships/notesSlide" Target="/ppt/notesSlides/notesSlide7.xml" Id="R4a3d3b8f53ea45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8bcebd3a64259" /><Relationship Type="http://schemas.openxmlformats.org/officeDocument/2006/relationships/notesSlide" Target="/ppt/notesSlides/notesSlide8.xml" Id="R0571003d848e4e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8f6fb078848da" /><Relationship Type="http://schemas.openxmlformats.org/officeDocument/2006/relationships/notesSlide" Target="/ppt/notesSlides/notesSlide9.xml" Id="R6af0b98a08da47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22df69fb524d0b" /><Relationship Type="http://schemas.openxmlformats.org/officeDocument/2006/relationships/chart" Target="/ppt/slides/charts/chart1.xml" Id="Rb7162b8afef34801" /><Relationship Type="http://schemas.openxmlformats.org/officeDocument/2006/relationships/notesSlide" Target="/ppt/notesSlides/notesSlide10.xml" Id="Rc80d259774d84a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3288189c3473c" /><Relationship Type="http://schemas.openxmlformats.org/officeDocument/2006/relationships/notesSlide" Target="/ppt/notesSlides/notesSlide11.xml" Id="Rec0ce2db9d354d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Ответы</c:v>
          </c:tx>
          <c:spPr>
            <a:solidFill xmlns:a="http://schemas.openxmlformats.org/drawingml/2006/main">
              <a:srgbClr val="087E83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87E8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4772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Полные</c:v>
                </c:pt>
                <c:pt idx="1">
                  <c:v>Частичные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27</c:v>
                </c:pt>
                <c:pt idx="1">
                  <c:v>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73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4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7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C1F51A16-A336-4999-AB61-EC0E4FA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1C5"/>
                </a:solidFill>
                <a:latin typeface="Arial"/>
                <a:ea typeface="Arial"/>
                <a:cs typeface="Arial"/>
              </a:rPr>
              <a:t>01 / 11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E4423-4DE1-43B1-B337-6EC533B6E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92ea99cfe41b9"/>
          <a:stretch xmlns:a="http://schemas.openxmlformats.org/drawingml/2006/main"/>
        </p:blipFill>
        <p:spPr>
          <a:xfrm xmlns:a="http://schemas.openxmlformats.org/drawingml/2006/main">
            <a:off x="6953250" y="1266825"/>
            <a:ext cx="4714875" cy="4714875"/>
          </a:xfrm>
          <a:prstGeom xmlns:a="http://schemas.openxmlformats.org/drawingml/2006/main" prst="rect">
            <a:avLst/>
          </a:prstGeom>
        </p:spPr>
      </p:pic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B575614-6DC8-4FAD-BF24-4257B5BD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Copilot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D3A5451-E515-456C-977F-C0DC8816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6D1C5"/>
                </a:solidFill>
                <a:latin typeface="Arial"/>
                <a:ea typeface="Arial"/>
                <a:cs typeface="Arial"/>
              </a:rPr>
              <a:t>Помощник инженера</a:t>
            </a:r>
          </a:p>
          <a:p xmlns:a="http://schemas.openxmlformats.org/drawingml/2006/main">
            <a:pPr algn="l">
              <a:defRPr sz="26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6D1C5"/>
                </a:solidFill>
                <a:latin typeface="Arial"/>
                <a:ea typeface="Arial"/>
                <a:cs typeface="Arial"/>
              </a:rPr>
              <a:t>поддержки MIDAS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0687E2A-B59E-4446-9E9E-B3A4FDF7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Константин Скоробагатько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E980FD0-1897-43C4-A1A6-012FEEBF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D1C5"/>
                </a:solidFill>
                <a:latin typeface="Arial"/>
                <a:ea typeface="Arial"/>
                <a:cs typeface="Arial"/>
              </a:rPr>
              <a:t>Дипломный проект</a:t>
            </a:r>
          </a:p>
          <a:p xmlns:a="http://schemas.openxmlformats.org/drawingml/2006/main">
            <a:pPr algn="l">
              <a:defRPr sz="17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D1C5"/>
                </a:solidFill>
                <a:latin typeface="Arial"/>
                <a:ea typeface="Arial"/>
                <a:cs typeface="Arial"/>
              </a:rPr>
              <a:t>23 октября 2026 года</a:t>
            </a:r>
          </a:p>
        </p:txBody>
      </p:sp>
    </p:spTree>
    <p:extLst>
      <p:ext uri="{BB962C8B-B14F-4D97-AF65-F5344CB8AC3E}">
        <p14:creationId xmlns:p14="http://schemas.microsoft.com/office/powerpoint/2010/main" val="1400401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5E1065-FFE7-4403-AA80-02C4D9E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Задача и пользователь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04A9FC9C-4BB8-464D-B314-21C425B9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A99ACC13-CB14-4451-AB6D-BFFB56E3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43D"/>
                </a:solidFill>
                <a:latin typeface="Arial"/>
                <a:ea typeface="Arial"/>
                <a:cs typeface="Arial"/>
              </a:rPr>
              <a:t>Найти ответ в мануалах</a:t>
            </a:r>
          </a:p>
          <a:p xmlns:a="http://schemas.openxmlformats.org/drawingml/2006/main">
            <a:pPr algn="l">
              <a:defRPr sz="27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43D"/>
                </a:solidFill>
                <a:latin typeface="Arial"/>
                <a:ea typeface="Arial"/>
                <a:cs typeface="Arial"/>
              </a:rPr>
              <a:t>и объяснить его пользователю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AC437F76-B7E0-4CC6-B49B-610501D8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Кто использует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6447CC25-304D-48BB-BADE-0525FF2E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Инженер технической поддержки MIDAS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DDA23764-2230-41F0-A868-8D0D7545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Что получает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E4FE064E-19D4-4B40-9A02-29FCCCE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Пояснение, источники и черновик ответа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0BE02CF1-5024-4259-B3A4-6540352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Выбрали эту область: технический вывод можно сверить с оригиналом</a:t>
            </a:r>
          </a:p>
        </p:txBody>
      </p:sp>
    </p:spTree>
    <p:extLst>
      <p:ext uri="{BB962C8B-B14F-4D97-AF65-F5344CB8AC3E}">
        <p14:creationId xmlns:p14="http://schemas.microsoft.com/office/powerpoint/2010/main" val="709991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C97EE6-2884-42E1-B3B1-48BF66B4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Почему здесь нужен ИИ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23AEFFA9-DBF0-4777-9BFF-624259D1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3DFBEA5C-9202-4C37-921C-8F444F63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Обычный поиск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D5CE1CCB-BA48-49A0-BFDA-99E51CB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Находит точные термины и фрагменты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C9142830-DCBA-4C5B-BE40-C0051275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ИИ с RAG</a:t>
            </a:r>
          </a:p>
        </p:txBody>
      </p:sp>
      <p:sp>
        <p:nvSpPr>
          <p:cNvPr id="6" name="text-17">
            <a:extLst xmlns:a="http://schemas.openxmlformats.org/drawingml/2006/main">
              <a:ext uri="{FF2B5EF4-FFF2-40B4-BE49-F238E27FC236}">
                <a16:creationId xmlns:a16="http://schemas.microsoft.com/office/drawing/2014/main" id="{27E96176-BE01-4B95-AD6A-13643094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Учитывает вопрос и диалог,</a:t>
            </a:r>
          </a:p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связывает фрагменты в объяснение</a:t>
            </a:r>
          </a:p>
        </p:txBody>
      </p:sp>
      <p:sp>
        <p:nvSpPr>
          <p:cNvPr id="7" name="text-18">
            <a:extLst xmlns:a="http://schemas.openxmlformats.org/drawingml/2006/main">
              <a:ext uri="{FF2B5EF4-FFF2-40B4-BE49-F238E27FC236}">
                <a16:creationId xmlns:a16="http://schemas.microsoft.com/office/drawing/2014/main" id="{2CB503B9-98F5-43CA-8C79-0D7FDB1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Альтернатива: FAQ</a:t>
            </a:r>
          </a:p>
        </p:txBody>
      </p:sp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4E0D1547-CE19-4446-86EE-BBDB022F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Закрывает заранее известные вопросы</a:t>
            </a:r>
          </a:p>
        </p:txBody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3866F22E-EB73-4C10-9CFB-6A4508DF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Модель получает найденный текст. Инженер видит источники.</a:t>
            </a:r>
          </a:p>
        </p:txBody>
      </p:sp>
    </p:spTree>
    <p:extLst>
      <p:ext uri="{BB962C8B-B14F-4D97-AF65-F5344CB8AC3E}">
        <p14:creationId xmlns:p14="http://schemas.microsoft.com/office/powerpoint/2010/main" val="1419346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0E2487-A8BF-4EB9-BCAF-7FC4FFB6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База знаний</a:t>
            </a:r>
          </a:p>
        </p:txBody>
      </p:sp>
      <p:sp>
        <p:nvSpPr>
          <p:cNvPr id="2" name="text-21">
            <a:extLst xmlns:a="http://schemas.openxmlformats.org/drawingml/2006/main">
              <a:ext uri="{FF2B5EF4-FFF2-40B4-BE49-F238E27FC236}">
                <a16:creationId xmlns:a16="http://schemas.microsoft.com/office/drawing/2014/main" id="{C5E0738D-7498-4D13-B458-B1E0342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36C90DE5-DD15-40E7-8383-9624A46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43D"/>
                </a:solidFill>
                <a:latin typeface="Arial"/>
                <a:ea typeface="Arial"/>
                <a:cs typeface="Arial"/>
              </a:rPr>
              <a:t>Официальные руководства GTS NX и Civil</a:t>
            </a:r>
          </a:p>
        </p:txBody>
      </p:sp>
      <p:sp>
        <p:nvSpPr>
          <p:cNvPr id="4" name="text-23">
            <a:extLst xmlns:a="http://schemas.openxmlformats.org/drawingml/2006/main">
              <a:ext uri="{FF2B5EF4-FFF2-40B4-BE49-F238E27FC236}">
                <a16:creationId xmlns:a16="http://schemas.microsoft.com/office/drawing/2014/main" id="{E9FCC00F-0DF8-4D0D-94BC-17A6DF3A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Объём</a:t>
            </a:r>
          </a:p>
        </p:txBody>
      </p:sp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6698C627-2901-41F6-B9DB-2D808A38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10 источников: 9 PDF и 1 CHM</a:t>
            </a:r>
          </a:p>
        </p:txBody>
      </p:sp>
      <p:sp>
        <p:nvSpPr>
          <p:cNvPr id="6" name="text-25">
            <a:extLst xmlns:a="http://schemas.openxmlformats.org/drawingml/2006/main">
              <a:ext uri="{FF2B5EF4-FFF2-40B4-BE49-F238E27FC236}">
                <a16:creationId xmlns:a16="http://schemas.microsoft.com/office/drawing/2014/main" id="{119E7066-21DA-46E0-8F02-EFAAF747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Почему эти документы</a:t>
            </a:r>
          </a:p>
        </p:txBody>
      </p:sp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1F552F40-EACA-4C94-8F02-A17407CE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Описывают продукт и позволяют проверить ответ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48F0CB46-EE4C-4A8B-9AEB-35D787D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Отбор</a:t>
            </a:r>
          </a:p>
        </p:txBody>
      </p:sp>
      <p:sp>
        <p:nvSpPr>
          <p:cNvPr id="9" name="text-28">
            <a:extLst xmlns:a="http://schemas.openxmlformats.org/drawingml/2006/main">
              <a:ext uri="{FF2B5EF4-FFF2-40B4-BE49-F238E27FC236}">
                <a16:creationId xmlns:a16="http://schemas.microsoft.com/office/drawing/2014/main" id="{D9ECBB7D-0198-401B-8B95-932A8DED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Убрали 60 HTML-зеркал, сохранили происхождение</a:t>
            </a:r>
          </a:p>
        </p:txBody>
      </p:sp>
    </p:spTree>
    <p:extLst>
      <p:ext uri="{BB962C8B-B14F-4D97-AF65-F5344CB8AC3E}">
        <p14:creationId xmlns:p14="http://schemas.microsoft.com/office/powerpoint/2010/main" val="359865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BC712-6191-4D87-B68E-A1D9C573119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167563" y="2781300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3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DA099-47F1-45FE-AB20-09449E96069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262438" y="2781300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3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A50D6-4BF3-4E5E-B735-65B730889F4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34375" y="2343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3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16D5A-8A3E-426A-BA34-466E95F3D2E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429250" y="2343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3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10555-A019-42DD-A8BB-3D889BE802C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667000" y="2343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3"/>
            </a:solidFill>
            <a:tailEnd type="triangle" w="med" len="med"/>
          </a:ln>
        </p:spPr>
      </p:cxn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DF2396-A2A7-4EA7-873B-B1DAC7E1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text-29">
            <a:extLst xmlns:a="http://schemas.openxmlformats.org/drawingml/2006/main">
              <a:ext uri="{FF2B5EF4-FFF2-40B4-BE49-F238E27FC236}">
                <a16:creationId xmlns:a16="http://schemas.microsoft.com/office/drawing/2014/main" id="{9A21B955-5FA7-4C59-AA79-C5F35C5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  <p:sp>
        <p:nvSpPr>
          <p:cNvPr id="3" name="architecture-30">
            <a:extLst xmlns:a="http://schemas.openxmlformats.org/drawingml/2006/main">
              <a:ext uri="{FF2B5EF4-FFF2-40B4-BE49-F238E27FC236}">
                <a16:creationId xmlns:a16="http://schemas.microsoft.com/office/drawing/2014/main" id="{AC111F3D-BB71-480A-AF79-C157BE21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7E8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Telegram</a:t>
            </a:r>
          </a:p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aiogram</a:t>
            </a:r>
          </a:p>
        </p:txBody>
      </p:sp>
      <p:sp>
        <p:nvSpPr>
          <p:cNvPr id="4" name="architecture-31">
            <a:extLst xmlns:a="http://schemas.openxmlformats.org/drawingml/2006/main">
              <a:ext uri="{FF2B5EF4-FFF2-40B4-BE49-F238E27FC236}">
                <a16:creationId xmlns:a16="http://schemas.microsoft.com/office/drawing/2014/main" id="{DCEB94BB-BE90-4CEC-A7EC-B5902908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05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7E8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ChatService</a:t>
            </a:r>
          </a:p>
        </p:txBody>
      </p:sp>
      <p:sp>
        <p:nvSpPr>
          <p:cNvPr id="5" name="architecture-32">
            <a:extLst xmlns:a="http://schemas.openxmlformats.org/drawingml/2006/main">
              <a:ext uri="{FF2B5EF4-FFF2-40B4-BE49-F238E27FC236}">
                <a16:creationId xmlns:a16="http://schemas.microsoft.com/office/drawing/2014/main" id="{207E374C-16DF-44FD-9D3B-FFD5E2B7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7E8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Агент</a:t>
            </a:r>
          </a:p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6" name="architecture-33">
            <a:extLst xmlns:a="http://schemas.openxmlformats.org/drawingml/2006/main">
              <a:ext uri="{FF2B5EF4-FFF2-40B4-BE49-F238E27FC236}">
                <a16:creationId xmlns:a16="http://schemas.microsoft.com/office/drawing/2014/main" id="{DA33A7B5-0BB6-4601-9090-2DF67A4C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05000"/>
            <a:ext cx="2524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7E8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Модель</a:t>
            </a:r>
          </a:p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OpenAI SDK</a:t>
            </a:r>
          </a:p>
        </p:txBody>
      </p:sp>
      <p:sp>
        <p:nvSpPr>
          <p:cNvPr id="10" name="architecture-34">
            <a:extLst xmlns:a="http://schemas.openxmlformats.org/drawingml/2006/main">
              <a:ext uri="{FF2B5EF4-FFF2-40B4-BE49-F238E27FC236}">
                <a16:creationId xmlns:a16="http://schemas.microsoft.com/office/drawing/2014/main" id="{F90F270F-9BF3-4D96-A2A4-DC7233F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67125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7E8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История и состояние</a:t>
            </a:r>
          </a:p>
        </p:txBody>
      </p:sp>
      <p:sp>
        <p:nvSpPr>
          <p:cNvPr id="11" name="architecture-35">
            <a:extLst xmlns:a="http://schemas.openxmlformats.org/drawingml/2006/main">
              <a:ext uri="{FF2B5EF4-FFF2-40B4-BE49-F238E27FC236}">
                <a16:creationId xmlns:a16="http://schemas.microsoft.com/office/drawing/2014/main" id="{021565D0-7D28-4645-8C1B-1ED30783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7E8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RAG</a:t>
            </a:r>
          </a:p>
          <a:p xmlns:a="http://schemas.openxmlformats.org/drawingml/2006/main">
            <a:pPr algn="ctr">
              <a:defRPr sz="187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Qdrant и BM25</a:t>
            </a:r>
          </a:p>
        </p:txBody>
      </p:sp>
      <p:sp>
        <p:nvSpPr>
          <p:cNvPr id="14" name="text-36">
            <a:extLst xmlns:a="http://schemas.openxmlformats.org/drawingml/2006/main">
              <a:ext uri="{FF2B5EF4-FFF2-40B4-BE49-F238E27FC236}">
                <a16:creationId xmlns:a16="http://schemas.microsoft.com/office/drawing/2014/main" id="{E43AEA80-D4DB-41C9-913B-44630BB7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2524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Кеш API и защита</a:t>
            </a:r>
          </a:p>
          <a:p xmlns:a="http://schemas.openxmlformats.org/drawingml/2006/main">
            <a: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от повторов доставки</a:t>
            </a:r>
          </a:p>
        </p:txBody>
      </p:sp>
      <p:sp>
        <p:nvSpPr>
          <p:cNvPr id="15" name="text-37">
            <a:extLst xmlns:a="http://schemas.openxmlformats.org/drawingml/2006/main">
              <a:ext uri="{FF2B5EF4-FFF2-40B4-BE49-F238E27FC236}">
                <a16:creationId xmlns:a16="http://schemas.microsoft.com/office/drawing/2014/main" id="{E563DD69-B7CE-4027-9462-9E58A803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Разделение слоёв позволяет менять интерфейс и проверять backend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703640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C6B2EA-117D-4BB0-89DF-7A41D7AC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Выбор модели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754F4F94-BB8B-4E4E-93F3-F53A6DE4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45CF7287-967D-426F-8023-D211EF31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Облачная gpt-6-luna, reasoning medium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28CB48B4-1F14-4B93-91B0-A594A337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3D"/>
                </a:solidFill>
                <a:latin typeface="Arial"/>
                <a:ea typeface="Arial"/>
                <a:cs typeface="Arial"/>
              </a:rPr>
              <a:t>Medium дал полноту mini при меньших расходах в тесте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D32DC-33C4-455A-B56E-AA7366876EAD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06680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715250"/>
              </a:tblGrid>
              <a:tr h="6096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Альтернатива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T w="5715">
                      <a:solidFill>
                        <a:srgbClr val="CED9D5"/>
                      </a:solidFill>
                      <a:prstDash val="solid"/>
                    </a:lnT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112C3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Компромисс для текущей версии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T w="5715">
                      <a:solidFill>
                        <a:srgbClr val="CED9D5"/>
                      </a:solidFill>
                      <a:prstDash val="solid"/>
                    </a:lnT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112C35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gpt-5.4-mini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Быстрее, но дороже в нашем тесте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Luna low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Дешевле, но ответы менее полные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Локальная LLM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Нужна отдельная проверка качества и скорости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1">
            <a:extLst xmlns:a="http://schemas.openxmlformats.org/drawingml/2006/main">
              <a:ext uri="{FF2B5EF4-FFF2-40B4-BE49-F238E27FC236}">
                <a16:creationId xmlns:a16="http://schemas.microsoft.com/office/drawing/2014/main" id="{0083DC45-A687-4CF4-9162-172D450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Облако позволяет обойтись без локального сервера LLM</a:t>
            </a:r>
          </a:p>
        </p:txBody>
      </p:sp>
      <p:sp>
        <p:nvSpPr>
          <p:cNvPr id="7" name="text-42">
            <a:extLst xmlns:a="http://schemas.openxmlformats.org/drawingml/2006/main">
              <a:ext uri="{FF2B5EF4-FFF2-40B4-BE49-F238E27FC236}">
                <a16:creationId xmlns:a16="http://schemas.microsoft.com/office/drawing/2014/main" id="{370A4D33-E538-4B06-98BD-5C2402CC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Сравнение 15.10.2026 в Standard. Текущий профиль: Priority.</a:t>
            </a:r>
          </a:p>
        </p:txBody>
      </p:sp>
    </p:spTree>
    <p:extLst>
      <p:ext uri="{BB962C8B-B14F-4D97-AF65-F5344CB8AC3E}">
        <p14:creationId xmlns:p14="http://schemas.microsoft.com/office/powerpoint/2010/main" val="2001118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38A623-3E5D-4995-82CC-0F944308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Хранение и поиск</a:t>
            </a:r>
          </a:p>
        </p:txBody>
      </p:sp>
      <p:sp>
        <p:nvSpPr>
          <p:cNvPr id="2" name="text-43">
            <a:extLst xmlns:a="http://schemas.openxmlformats.org/drawingml/2006/main">
              <a:ext uri="{FF2B5EF4-FFF2-40B4-BE49-F238E27FC236}">
                <a16:creationId xmlns:a16="http://schemas.microsoft.com/office/drawing/2014/main" id="{74285D30-8321-4B5A-9E9B-8E8A3E6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  <p:sp>
        <p:nvSpPr>
          <p:cNvPr id="3" name="text-44">
            <a:extLst xmlns:a="http://schemas.openxmlformats.org/drawingml/2006/main">
              <a:ext uri="{FF2B5EF4-FFF2-40B4-BE49-F238E27FC236}">
                <a16:creationId xmlns:a16="http://schemas.microsoft.com/office/drawing/2014/main" id="{E4F0BD2C-1168-4652-B5F9-A4CD29AE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Qdrant</a:t>
            </a:r>
          </a:p>
        </p:txBody>
      </p:sp>
      <p:sp>
        <p:nvSpPr>
          <p:cNvPr id="4" name="text-45">
            <a:extLst xmlns:a="http://schemas.openxmlformats.org/drawingml/2006/main">
              <a:ext uri="{FF2B5EF4-FFF2-40B4-BE49-F238E27FC236}">
                <a16:creationId xmlns:a16="http://schemas.microsoft.com/office/drawing/2014/main" id="{A8AA61BF-A2D9-41B8-BCB6-0655363C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Интеграция и фильтры уже проверены.</a:t>
            </a:r>
          </a:p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pgvector потребовал бы отдельного внедрения.</a:t>
            </a:r>
          </a:p>
        </p:txBody>
      </p:sp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DA64110B-851A-4935-92A7-3FE1A17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Фрагменты 1024/64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FE430C38-3177-4AF3-9F13-8C8E1734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Переход с 512 на 1024: выше опора на источники,</a:t>
            </a:r>
          </a:p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немного ниже полнота поиска.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27B9FBEC-EF0C-43EF-8F81-3D0E733B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Смысловой поиск + BM25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4496CCB6-B375-4486-A7C4-9FB29760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529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Учитываем смысл вопроса и точные термины</a:t>
            </a:r>
          </a:p>
        </p:txBody>
      </p:sp>
      <p:sp>
        <p:nvSpPr>
          <p:cNvPr id="9" name="text-50">
            <a:extLst xmlns:a="http://schemas.openxmlformats.org/drawingml/2006/main">
              <a:ext uri="{FF2B5EF4-FFF2-40B4-BE49-F238E27FC236}">
                <a16:creationId xmlns:a16="http://schemas.microsoft.com/office/drawing/2014/main" id="{1F2A756F-AFB7-4C5B-92B6-C5EF5978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Размер и перекрытие в токенах. Embeddings: large, 1024 измерения.</a:t>
            </a:r>
          </a:p>
        </p:txBody>
      </p:sp>
    </p:spTree>
    <p:extLst>
      <p:ext uri="{BB962C8B-B14F-4D97-AF65-F5344CB8AC3E}">
        <p14:creationId xmlns:p14="http://schemas.microsoft.com/office/powerpoint/2010/main" val="45258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F64302-FB13-45FD-AC03-2027A7EB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Агент и контроль действий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E7935188-9267-48A2-AECB-4F61E5F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5EB3E323-5DC7-4CC8-A76A-6557C38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43D"/>
                </a:solidFill>
                <a:latin typeface="Arial"/>
                <a:ea typeface="Arial"/>
                <a:cs typeface="Arial"/>
              </a:rPr>
              <a:t>Один агент сохраняет общий контекст вопроса и поиска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8D924-53C3-4BA6-AF9B-6C985D03E8E6}"/>
              </a:ext>
            </a:extLst>
          </p:cNvPr>
          <p:cNvGraphicFramePr/>
          <p:nvPr/>
        </p:nvGraphicFramePr>
        <p:xfrm>
          <a:off xmlns:a="http://schemas.openxmlformats.org/drawingml/2006/main" x="762000" y="2495550"/>
          <a:ext xmlns:a="http://schemas.openxmlformats.org/drawingml/2006/main" cx="10668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143750"/>
              </a:tblGrid>
              <a:tr h="5715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Инструмент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T w="5715">
                      <a:solidFill>
                        <a:srgbClr val="CED9D5"/>
                      </a:solidFill>
                      <a:prstDash val="solid"/>
                    </a:lnT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112C3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Для чего нужен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T w="5715">
                      <a:solidFill>
                        <a:srgbClr val="CED9D5"/>
                      </a:solidFill>
                      <a:prstDash val="solid"/>
                    </a:lnT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112C35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Поиск в мануалах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Факты и проверяемые источники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Текущее время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Актуальная дата по запросу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Отправка сообщения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ED9D5"/>
                      </a:solidFill>
                      <a:prstDash val="solid"/>
                    </a:lnL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343D"/>
                          </a:solidFill>
                          <a:latin typeface="Arial"/>
                          <a:ea typeface="Arial"/>
                          <a:cs typeface="Arial"/>
                        </a:rPr>
                        <a:t>Поручение после подтверждения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ED9D5"/>
                      </a:solidFill>
                      <a:prstDash val="solid"/>
                    </a:lnR>
                    <a:lnB w="5715">
                      <a:solidFill>
                        <a:srgbClr val="CE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53">
            <a:extLst xmlns:a="http://schemas.openxmlformats.org/drawingml/2006/main">
              <a:ext uri="{FF2B5EF4-FFF2-40B4-BE49-F238E27FC236}">
                <a16:creationId xmlns:a16="http://schemas.microsoft.com/office/drawing/2014/main" id="{8982C4EB-51ED-4676-BC24-2C81C77A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Несколько агентов добавили расходы и задержку в учебном сравнении</a:t>
            </a:r>
          </a:p>
        </p:txBody>
      </p:sp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26F81A27-466A-4947-8703-142E6A40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Перед отправкой пользователь видит адресата и весь текст</a:t>
            </a:r>
          </a:p>
        </p:txBody>
      </p:sp>
    </p:spTree>
    <p:extLst>
      <p:ext uri="{BB962C8B-B14F-4D97-AF65-F5344CB8AC3E}">
        <p14:creationId xmlns:p14="http://schemas.microsoft.com/office/powerpoint/2010/main" val="1353545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A73FAC-6517-48D4-A110-48C873A4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Поведение при сбоях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4DF99282-3D24-453F-9899-98C4D4B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  <p:sp>
        <p:nvSpPr>
          <p:cNvPr id="3" name="text-56">
            <a:extLst xmlns:a="http://schemas.openxmlformats.org/drawingml/2006/main">
              <a:ext uri="{FF2B5EF4-FFF2-40B4-BE49-F238E27FC236}">
                <a16:creationId xmlns:a16="http://schemas.microsoft.com/office/drawing/2014/main" id="{77A8BD1B-FD4D-4AE9-9090-EFA201D7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API модели недоступен</a:t>
            </a:r>
          </a:p>
        </p:txBody>
      </p:sp>
      <p:sp>
        <p:nvSpPr>
          <p:cNvPr id="4" name="text-57">
            <a:extLst xmlns:a="http://schemas.openxmlformats.org/drawingml/2006/main">
              <a:ext uri="{FF2B5EF4-FFF2-40B4-BE49-F238E27FC236}">
                <a16:creationId xmlns:a16="http://schemas.microsoft.com/office/drawing/2014/main" id="{EB446100-82C9-4783-9B03-311E3F8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Ограничиваем время работы.</a:t>
            </a:r>
          </a:p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Показываем понятное сообщение о сбое.</a:t>
            </a:r>
          </a:p>
        </p:txBody>
      </p:sp>
      <p:sp>
        <p:nvSpPr>
          <p:cNvPr id="5" name="text-58">
            <a:extLst xmlns:a="http://schemas.openxmlformats.org/drawingml/2006/main">
              <a:ext uri="{FF2B5EF4-FFF2-40B4-BE49-F238E27FC236}">
                <a16:creationId xmlns:a16="http://schemas.microsoft.com/office/drawing/2014/main" id="{27E41BC7-6EC6-43BC-AD81-C837D65C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Сервис перезапустился</a:t>
            </a:r>
          </a:p>
        </p:txBody>
      </p:sp>
      <p:sp>
        <p:nvSpPr>
          <p:cNvPr id="6" name="text-59">
            <a:extLst xmlns:a="http://schemas.openxmlformats.org/drawingml/2006/main">
              <a:ext uri="{FF2B5EF4-FFF2-40B4-BE49-F238E27FC236}">
                <a16:creationId xmlns:a16="http://schemas.microsoft.com/office/drawing/2014/main" id="{13E4B512-C763-4120-B5C9-F0585A43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Восстанавливаем историю и состояние</a:t>
            </a:r>
          </a:p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из PostgreSQL.</a:t>
            </a:r>
          </a:p>
        </p:txBody>
      </p:sp>
      <p:sp>
        <p:nvSpPr>
          <p:cNvPr id="7" name="text-60">
            <a:extLst xmlns:a="http://schemas.openxmlformats.org/drawingml/2006/main">
              <a:ext uri="{FF2B5EF4-FFF2-40B4-BE49-F238E27FC236}">
                <a16:creationId xmlns:a16="http://schemas.microsoft.com/office/drawing/2014/main" id="{776DB4D3-03D3-4D76-A3CA-04B4A035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Исход отправки неизвестен</a:t>
            </a:r>
          </a:p>
        </p:txBody>
      </p:sp>
      <p:sp>
        <p:nvSpPr>
          <p:cNvPr id="8" name="text-61">
            <a:extLst xmlns:a="http://schemas.openxmlformats.org/drawingml/2006/main">
              <a:ext uri="{FF2B5EF4-FFF2-40B4-BE49-F238E27FC236}">
                <a16:creationId xmlns:a16="http://schemas.microsoft.com/office/drawing/2014/main" id="{F7764A90-3284-4221-B7A1-AF9EAA2F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958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Не повторяем автоматически.</a:t>
            </a:r>
          </a:p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Сначала нужна сверка доставки.</a:t>
            </a:r>
          </a:p>
        </p:txBody>
      </p:sp>
      <p:sp>
        <p:nvSpPr>
          <p:cNvPr id="9" name="text-62">
            <a:extLst xmlns:a="http://schemas.openxmlformats.org/drawingml/2006/main">
              <a:ext uri="{FF2B5EF4-FFF2-40B4-BE49-F238E27FC236}">
                <a16:creationId xmlns:a16="http://schemas.microsoft.com/office/drawing/2014/main" id="{81D674E9-1CB1-40A7-A192-326CAC6A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Резервная локальная модель не подключена</a:t>
            </a:r>
          </a:p>
        </p:txBody>
      </p:sp>
    </p:spTree>
    <p:extLst>
      <p:ext uri="{BB962C8B-B14F-4D97-AF65-F5344CB8AC3E}">
        <p14:creationId xmlns:p14="http://schemas.microsoft.com/office/powerpoint/2010/main" val="1342050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5696A6-0679-4BBB-8459-6F4CEFFA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2C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35"/>
                </a:solidFill>
                <a:latin typeface="Arial"/>
                <a:ea typeface="Arial"/>
                <a:cs typeface="Arial"/>
              </a:rPr>
              <a:t>Результат и проверка качества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3B233293-5CD6-4780-A886-E14834D5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F50A27E4-0B5D-47BE-B1FE-A303080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43D"/>
                </a:solidFill>
                <a:latin typeface="Arial"/>
                <a:ea typeface="Arial"/>
                <a:cs typeface="Arial"/>
              </a:rPr>
              <a:t>34 эталонных вопроса, приёмка 21.10.2026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46D4938-B6C9-4AD2-AC00-AAE629C229DE}"/>
              </a:ext>
            </a:extLst>
          </p:cNvPr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514350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162b8afef34801"/>
          </a:graphicData>
        </a:graphic>
      </p:graphicFrame>
      <p:sp>
        <p:nvSpPr>
          <p:cNvPr id="5" name="text-65">
            <a:extLst xmlns:a="http://schemas.openxmlformats.org/drawingml/2006/main">
              <a:ext uri="{FF2B5EF4-FFF2-40B4-BE49-F238E27FC236}">
                <a16:creationId xmlns:a16="http://schemas.microsoft.com/office/drawing/2014/main" id="{A0960685-A11B-440A-A536-99092EB8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Проверяемость</a:t>
            </a:r>
          </a:p>
        </p:txBody>
      </p:sp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34FA4903-B8D7-4EA7-B355-6119935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154 использования источников</a:t>
            </a:r>
          </a:p>
          <a:p xmlns:a="http://schemas.openxmlformats.org/drawingml/2006/main">
            <a:pPr algn="l">
              <a:defRPr sz="202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сверили с оригиналами</a:t>
            </a: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9DC76E48-B80D-4354-8A7E-29C003BA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Контракты и регрессии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0D0D3EEC-517B-4E21-9330-884D6AEC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1522 passed / 12 skipped</a:t>
            </a:r>
          </a:p>
          <a:p xmlns:a="http://schemas.openxmlformats.org/drawingml/2006/main">
            <a:pPr algn="l">
              <a:defRPr sz="1875" b="0">
                <a:solidFill>
                  <a:srgbClr val="17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3D"/>
                </a:solidFill>
                <a:latin typeface="Arial"/>
                <a:ea typeface="Arial"/>
                <a:cs typeface="Arial"/>
              </a:rPr>
              <a:t>Отдельно: 25 PostgreSQL passed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A176558C-BF96-4F63-9BA4-FFF88B4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Применение: подсказка, которую проверяет инженер</a:t>
            </a:r>
          </a:p>
        </p:txBody>
      </p:sp>
      <p:sp>
        <p:nvSpPr>
          <p:cNvPr id="10" name="text-70">
            <a:extLst xmlns:a="http://schemas.openxmlformats.org/drawingml/2006/main">
              <a:ext uri="{FF2B5EF4-FFF2-40B4-BE49-F238E27FC236}">
                <a16:creationId xmlns:a16="http://schemas.microsoft.com/office/drawing/2014/main" id="{1F02CE10-BFFF-4F4A-ABBD-6D32A5D3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43 сценария + 5 расширений до исправления уточнения.</a:t>
            </a:r>
          </a:p>
          <a:p xmlns:a="http://schemas.openxmlformats.org/drawingml/2006/main">
            <a:pPr algn="l">
              <a:defRPr sz="1425" b="0">
                <a:solidFill>
                  <a:srgbClr val="526B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1"/>
                </a:solidFill>
                <a:latin typeface="Arial"/>
                <a:ea typeface="Arial"/>
                <a:cs typeface="Arial"/>
              </a:rPr>
              <a:t>После исправления: offline-тесты и адресная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1231044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0E7F91-EA13-4BB5-99B6-D6B55B6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Ограничения и следующий шаг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A45DDD57-2A9C-4235-868B-3B9D1AD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1C5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4CCC4BB3-A5F2-4EB6-A4F7-E64DE386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6D1C5"/>
                </a:solidFill>
                <a:latin typeface="Arial"/>
                <a:ea typeface="Arial"/>
                <a:cs typeface="Arial"/>
              </a:rPr>
              <a:t>Где остаются ошибки</a:t>
            </a:r>
          </a:p>
        </p:txBody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BED25CF8-8E54-4BB1-B8DA-72C4099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81175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Частичные ответы по DOF и Mohr–Coulomb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C98831E7-47C3-42C7-9BA8-26E543DE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6D1C5"/>
                </a:solidFill>
                <a:latin typeface="Arial"/>
                <a:ea typeface="Arial"/>
                <a:cs typeface="Arial"/>
              </a:rPr>
              <a:t>Что мешает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90F214CB-A480-4A9E-AEE7-5F490FC6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Пробелы корпуса, формулы и изображения</a:t>
            </a:r>
          </a:p>
        </p:txBody>
      </p:sp>
      <p:sp>
        <p:nvSpPr>
          <p:cNvPr id="7" name="text-76">
            <a:extLst xmlns:a="http://schemas.openxmlformats.org/drawingml/2006/main">
              <a:ext uri="{FF2B5EF4-FFF2-40B4-BE49-F238E27FC236}">
                <a16:creationId xmlns:a16="http://schemas.microsoft.com/office/drawing/2014/main" id="{43F35BF7-9094-4F8A-A0E1-4FB1E89F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6D1C5"/>
                </a:solidFill>
                <a:latin typeface="Arial"/>
                <a:ea typeface="Arial"/>
                <a:cs typeface="Arial"/>
              </a:rPr>
              <a:t>После сдачи</a:t>
            </a: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8E917F92-9E8D-4214-BB87-FDF0E88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Дополним источники и повторим оценку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новых вопросах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4F7A9C3F-6E01-45E8-B6FF-CD9C85B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6D1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D1C5"/>
                </a:solidFill>
                <a:latin typeface="Arial"/>
                <a:ea typeface="Arial"/>
                <a:cs typeface="Arial"/>
              </a:rPr>
              <a:t>Полнота всего корпуса и SLA ещё не подтверждены</a:t>
            </a:r>
          </a:p>
        </p:txBody>
      </p:sp>
    </p:spTree>
    <p:extLst>
      <p:ext uri="{BB962C8B-B14F-4D97-AF65-F5344CB8AC3E}">
        <p14:creationId xmlns:p14="http://schemas.microsoft.com/office/powerpoint/2010/main" val="257346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2026-10-23T10:21:26.4800000Z</dcterms:created>
  <dcterms:modified xsi:type="dcterms:W3CDTF">2026-10-23T10:21:26.4800000Z</dcterms:modified>
</coreProperties>
</file>